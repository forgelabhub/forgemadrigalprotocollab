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Default Extension="jpg" ContentType="image/jp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20104100" cy="11309350"/>
  <p:notesSz cx="20104100" cy="113093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910967"/>
            <a:ext cx="20104100" cy="21988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1036617" y="1287918"/>
            <a:ext cx="7845425" cy="542290"/>
          </a:xfrm>
          <a:custGeom>
            <a:avLst/>
            <a:gdLst/>
            <a:ahLst/>
            <a:cxnLst/>
            <a:rect l="l" t="t" r="r" b="b"/>
            <a:pathLst>
              <a:path w="7845425" h="542289">
                <a:moveTo>
                  <a:pt x="7845311" y="541868"/>
                </a:moveTo>
                <a:lnTo>
                  <a:pt x="0" y="541868"/>
                </a:lnTo>
                <a:lnTo>
                  <a:pt x="0" y="0"/>
                </a:lnTo>
                <a:lnTo>
                  <a:pt x="7845311" y="0"/>
                </a:lnTo>
                <a:lnTo>
                  <a:pt x="7845311" y="541868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92223" y="1151531"/>
            <a:ext cx="18119653" cy="673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jpg"/><Relationship Id="rId5" Type="http://schemas.openxmlformats.org/officeDocument/2006/relationships/image" Target="../media/image46.png"/><Relationship Id="rId6" Type="http://schemas.openxmlformats.org/officeDocument/2006/relationships/image" Target="../media/image47.jpg"/><Relationship Id="rId7" Type="http://schemas.openxmlformats.org/officeDocument/2006/relationships/image" Target="../media/image48.png"/><Relationship Id="rId8" Type="http://schemas.openxmlformats.org/officeDocument/2006/relationships/image" Target="../media/image49.jpg"/><Relationship Id="rId9" Type="http://schemas.openxmlformats.org/officeDocument/2006/relationships/image" Target="../media/image50.png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706" y="801022"/>
            <a:ext cx="20088860" cy="267335"/>
            <a:chOff x="15706" y="801022"/>
            <a:chExt cx="20088860" cy="2673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32946" y="824582"/>
              <a:ext cx="3848050" cy="22774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706" y="801022"/>
              <a:ext cx="20088393" cy="267007"/>
            </a:xfrm>
            <a:prstGeom prst="rect">
              <a:avLst/>
            </a:prstGeom>
          </p:spPr>
        </p:pic>
      </p:grpSp>
      <p:sp>
        <p:nvSpPr>
          <p:cNvPr id="5" name="object 5"/>
          <p:cNvSpPr/>
          <p:nvPr/>
        </p:nvSpPr>
        <p:spPr>
          <a:xfrm>
            <a:off x="15706" y="3125559"/>
            <a:ext cx="20080605" cy="196850"/>
          </a:xfrm>
          <a:custGeom>
            <a:avLst/>
            <a:gdLst/>
            <a:ahLst/>
            <a:cxnLst/>
            <a:rect l="l" t="t" r="r" b="b"/>
            <a:pathLst>
              <a:path w="20080605" h="196850">
                <a:moveTo>
                  <a:pt x="20080541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96329"/>
                </a:lnTo>
                <a:close/>
              </a:path>
            </a:pathLst>
          </a:custGeom>
          <a:solidFill>
            <a:srgbClr val="0E0E0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7911268" y="3080791"/>
            <a:ext cx="49339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-355">
                <a:solidFill>
                  <a:srgbClr val="4D1615"/>
                </a:solidFill>
                <a:latin typeface="Arial"/>
                <a:cs typeface="Arial"/>
              </a:rPr>
              <a:t>K</a:t>
            </a:r>
            <a:r>
              <a:rPr dirty="0" sz="1650" spc="-229">
                <a:solidFill>
                  <a:srgbClr val="4D1615"/>
                </a:solidFill>
                <a:latin typeface="Arial"/>
                <a:cs typeface="Arial"/>
              </a:rPr>
              <a:t> </a:t>
            </a:r>
            <a:r>
              <a:rPr dirty="0" sz="1650" spc="-355">
                <a:solidFill>
                  <a:srgbClr val="673131"/>
                </a:solidFill>
                <a:latin typeface="Arial"/>
                <a:cs typeface="Arial"/>
              </a:rPr>
              <a:t>E</a:t>
            </a:r>
            <a:r>
              <a:rPr dirty="0" sz="1650" spc="-210">
                <a:solidFill>
                  <a:srgbClr val="673131"/>
                </a:solidFill>
                <a:latin typeface="Arial"/>
                <a:cs typeface="Arial"/>
              </a:rPr>
              <a:t> </a:t>
            </a:r>
            <a:r>
              <a:rPr dirty="0" sz="1650" spc="-660">
                <a:solidFill>
                  <a:srgbClr val="E27B67"/>
                </a:solidFill>
                <a:latin typeface="Arial"/>
                <a:cs typeface="Arial"/>
              </a:rPr>
              <a:t>M</a:t>
            </a:r>
            <a:r>
              <a:rPr dirty="0" sz="1650" spc="-150">
                <a:solidFill>
                  <a:srgbClr val="E27B67"/>
                </a:solidFill>
                <a:latin typeface="Arial"/>
                <a:cs typeface="Arial"/>
              </a:rPr>
              <a:t> </a:t>
            </a:r>
            <a:r>
              <a:rPr dirty="0" sz="1650" spc="-565">
                <a:solidFill>
                  <a:srgbClr val="44080C"/>
                </a:solidFill>
                <a:latin typeface="Arial"/>
                <a:cs typeface="Arial"/>
              </a:rPr>
              <a:t>C</a:t>
            </a:r>
            <a:endParaRPr sz="16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8319" y="3080791"/>
            <a:ext cx="112331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-150">
                <a:solidFill>
                  <a:srgbClr val="3F0800"/>
                </a:solidFill>
                <a:latin typeface="Arial"/>
                <a:cs typeface="Arial"/>
              </a:rPr>
              <a:t>3A</a:t>
            </a:r>
            <a:r>
              <a:rPr dirty="0" sz="1650" spc="-195">
                <a:solidFill>
                  <a:srgbClr val="3F0800"/>
                </a:solidFill>
                <a:latin typeface="Arial"/>
                <a:cs typeface="Arial"/>
              </a:rPr>
              <a:t> </a:t>
            </a:r>
            <a:r>
              <a:rPr dirty="0" sz="1650" spc="-60">
                <a:solidFill>
                  <a:srgbClr val="753F3B"/>
                </a:solidFill>
                <a:latin typeface="Arial"/>
                <a:cs typeface="Arial"/>
              </a:rPr>
              <a:t>KA3fl</a:t>
            </a:r>
            <a:r>
              <a:rPr dirty="0" sz="1650" spc="-240">
                <a:solidFill>
                  <a:srgbClr val="753F3B"/>
                </a:solidFill>
                <a:latin typeface="Arial"/>
                <a:cs typeface="Arial"/>
              </a:rPr>
              <a:t> </a:t>
            </a:r>
            <a:r>
              <a:rPr dirty="0" sz="1650" spc="-340">
                <a:solidFill>
                  <a:srgbClr val="E27B67"/>
                </a:solidFill>
                <a:latin typeface="Arial"/>
                <a:cs typeface="Arial"/>
              </a:rPr>
              <a:t>I4</a:t>
            </a:r>
            <a:r>
              <a:rPr dirty="0" sz="1650" spc="-140">
                <a:solidFill>
                  <a:srgbClr val="E27B67"/>
                </a:solidFill>
                <a:latin typeface="Arial"/>
                <a:cs typeface="Arial"/>
              </a:rPr>
              <a:t> </a:t>
            </a:r>
            <a:r>
              <a:rPr dirty="0" sz="1650" spc="-190">
                <a:solidFill>
                  <a:srgbClr val="3F0800"/>
                </a:solidFill>
                <a:latin typeface="Arial"/>
                <a:cs typeface="Arial"/>
              </a:rPr>
              <a:t>EA</a:t>
            </a:r>
            <a:endParaRPr sz="16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793718" y="3080791"/>
            <a:ext cx="485140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>
                <a:solidFill>
                  <a:srgbClr val="A16467"/>
                </a:solidFill>
                <a:latin typeface="Arial"/>
                <a:cs typeface="Arial"/>
              </a:rPr>
              <a:t>#02</a:t>
            </a:r>
            <a:r>
              <a:rPr dirty="0" sz="1650" spc="-165">
                <a:solidFill>
                  <a:srgbClr val="A16467"/>
                </a:solidFill>
                <a:latin typeface="Arial"/>
                <a:cs typeface="Arial"/>
              </a:rPr>
              <a:t> </a:t>
            </a:r>
            <a:r>
              <a:rPr dirty="0" sz="1650" spc="-50">
                <a:solidFill>
                  <a:srgbClr val="82504F"/>
                </a:solidFill>
                <a:latin typeface="Arial"/>
                <a:cs typeface="Arial"/>
              </a:rPr>
              <a:t>-</a:t>
            </a:r>
            <a:endParaRPr sz="16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59802" y="3080791"/>
            <a:ext cx="162623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1134745" algn="l"/>
              </a:tabLst>
            </a:pPr>
            <a:r>
              <a:rPr dirty="0" sz="1650" spc="-55">
                <a:solidFill>
                  <a:srgbClr val="3D070A"/>
                </a:solidFill>
                <a:latin typeface="Arial"/>
                <a:cs typeface="Arial"/>
              </a:rPr>
              <a:t>JHI</a:t>
            </a:r>
            <a:r>
              <a:rPr dirty="0" sz="1650" spc="-55">
                <a:solidFill>
                  <a:srgbClr val="5B1608"/>
                </a:solidFill>
                <a:latin typeface="Arial"/>
                <a:cs typeface="Arial"/>
              </a:rPr>
              <a:t>RH</a:t>
            </a:r>
            <a:r>
              <a:rPr dirty="0" sz="1650" spc="-220">
                <a:solidFill>
                  <a:srgbClr val="5B1608"/>
                </a:solidFill>
                <a:latin typeface="Arial"/>
                <a:cs typeface="Arial"/>
              </a:rPr>
              <a:t> </a:t>
            </a:r>
            <a:r>
              <a:rPr dirty="0" sz="1650" spc="-25">
                <a:solidFill>
                  <a:srgbClr val="44070C"/>
                </a:solidFill>
                <a:latin typeface="Arial"/>
                <a:cs typeface="Arial"/>
              </a:rPr>
              <a:t>ac</a:t>
            </a:r>
            <a:r>
              <a:rPr dirty="0" sz="1650" spc="-155">
                <a:solidFill>
                  <a:srgbClr val="44070C"/>
                </a:solidFill>
                <a:latin typeface="Arial"/>
                <a:cs typeface="Arial"/>
              </a:rPr>
              <a:t> </a:t>
            </a:r>
            <a:r>
              <a:rPr dirty="0" sz="1650" spc="-50">
                <a:solidFill>
                  <a:srgbClr val="591D28"/>
                </a:solidFill>
                <a:latin typeface="Arial"/>
                <a:cs typeface="Arial"/>
              </a:rPr>
              <a:t>k</a:t>
            </a:r>
            <a:r>
              <a:rPr dirty="0" sz="1650">
                <a:solidFill>
                  <a:srgbClr val="591D28"/>
                </a:solidFill>
                <a:latin typeface="Arial"/>
                <a:cs typeface="Arial"/>
              </a:rPr>
              <a:t>	</a:t>
            </a:r>
            <a:r>
              <a:rPr dirty="0" sz="1650" spc="-20">
                <a:solidFill>
                  <a:srgbClr val="974241"/>
                </a:solidFill>
                <a:latin typeface="Arial"/>
                <a:cs typeface="Arial"/>
              </a:rPr>
              <a:t>2026</a:t>
            </a:r>
            <a:endParaRPr sz="165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5706" y="4036526"/>
            <a:ext cx="20080605" cy="636270"/>
          </a:xfrm>
          <a:custGeom>
            <a:avLst/>
            <a:gdLst/>
            <a:ahLst/>
            <a:cxnLst/>
            <a:rect l="l" t="t" r="r" b="b"/>
            <a:pathLst>
              <a:path w="20080605" h="636270">
                <a:moveTo>
                  <a:pt x="20080541" y="636106"/>
                </a:moveTo>
                <a:lnTo>
                  <a:pt x="0" y="636106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636106"/>
                </a:lnTo>
                <a:close/>
              </a:path>
            </a:pathLst>
          </a:custGeom>
          <a:solidFill>
            <a:srgbClr val="0C0C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15706" y="4978906"/>
            <a:ext cx="20080605" cy="793750"/>
          </a:xfrm>
          <a:custGeom>
            <a:avLst/>
            <a:gdLst/>
            <a:ahLst/>
            <a:cxnLst/>
            <a:rect l="l" t="t" r="r" b="b"/>
            <a:pathLst>
              <a:path w="20080605" h="793750">
                <a:moveTo>
                  <a:pt x="20080541" y="793169"/>
                </a:moveTo>
                <a:lnTo>
                  <a:pt x="0" y="79316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793169"/>
                </a:lnTo>
                <a:close/>
              </a:path>
            </a:pathLst>
          </a:custGeom>
          <a:solidFill>
            <a:srgbClr val="0C0C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15706" y="5889873"/>
            <a:ext cx="20080605" cy="824865"/>
          </a:xfrm>
          <a:custGeom>
            <a:avLst/>
            <a:gdLst/>
            <a:ahLst/>
            <a:cxnLst/>
            <a:rect l="l" t="t" r="r" b="b"/>
            <a:pathLst>
              <a:path w="20080605" h="824865">
                <a:moveTo>
                  <a:pt x="20080541" y="824582"/>
                </a:moveTo>
                <a:lnTo>
                  <a:pt x="0" y="824582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824582"/>
                </a:lnTo>
                <a:close/>
              </a:path>
            </a:pathLst>
          </a:custGeom>
          <a:solidFill>
            <a:srgbClr val="0C0C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3297638" y="3769252"/>
            <a:ext cx="13458190" cy="2941320"/>
          </a:xfrm>
          <a:prstGeom prst="rect">
            <a:avLst/>
          </a:prstGeom>
        </p:spPr>
        <p:txBody>
          <a:bodyPr wrap="square" lIns="0" tIns="99695" rIns="0" bIns="0" rtlCol="0" vert="horz">
            <a:spAutoFit/>
          </a:bodyPr>
          <a:lstStyle/>
          <a:p>
            <a:pPr algn="ctr" marL="12065" marR="5080" indent="58419">
              <a:lnSpc>
                <a:spcPct val="91900"/>
              </a:lnSpc>
              <a:spcBef>
                <a:spcPts val="785"/>
              </a:spcBef>
            </a:pPr>
            <a:r>
              <a:rPr dirty="0" sz="6800" spc="-10">
                <a:solidFill>
                  <a:srgbClr val="FFFFFF"/>
                </a:solidFill>
                <a:latin typeface="Arial"/>
                <a:cs typeface="Arial"/>
              </a:rPr>
              <a:t>Восстановление </a:t>
            </a:r>
            <a:r>
              <a:rPr dirty="0" sz="6950" spc="-125">
                <a:solidFill>
                  <a:srgbClr val="FFFFFF"/>
                </a:solidFill>
                <a:latin typeface="Arial"/>
                <a:cs typeface="Arial"/>
              </a:rPr>
              <a:t>недокументированного</a:t>
            </a:r>
            <a:r>
              <a:rPr dirty="0" sz="6950" spc="-944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6950" spc="-135">
                <a:solidFill>
                  <a:srgbClr val="FFFFFF"/>
                </a:solidFill>
                <a:latin typeface="Arial"/>
                <a:cs typeface="Arial"/>
              </a:rPr>
              <a:t>бинарного </a:t>
            </a:r>
            <a:r>
              <a:rPr dirty="0" sz="6450" spc="-375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dirty="0" sz="6450" spc="157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6450" spc="-50">
                <a:solidFill>
                  <a:srgbClr val="FFFFFF"/>
                </a:solidFill>
                <a:latin typeface="Trebuchet MS"/>
                <a:cs typeface="Trebuchet MS"/>
              </a:rPr>
              <a:t>OTOxonanoBepx</a:t>
            </a:r>
            <a:r>
              <a:rPr dirty="0" sz="6450" spc="-13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6450" spc="229">
                <a:solidFill>
                  <a:srgbClr val="FFFFFF"/>
                </a:solidFill>
                <a:latin typeface="Trebuchet MS"/>
                <a:cs typeface="Trebuchet MS"/>
              </a:rPr>
              <a:t>TCP</a:t>
            </a:r>
            <a:endParaRPr sz="6450">
              <a:latin typeface="Trebuchet MS"/>
              <a:cs typeface="Trebuchet MS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15706" y="7146379"/>
            <a:ext cx="20088860" cy="330200"/>
            <a:chOff x="15706" y="7146379"/>
            <a:chExt cx="20088860" cy="33020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00840" y="7169938"/>
              <a:ext cx="5065290" cy="290567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706" y="7146379"/>
              <a:ext cx="20088393" cy="32983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5706" y="910967"/>
            <a:ext cx="20080605" cy="196850"/>
          </a:xfrm>
          <a:custGeom>
            <a:avLst/>
            <a:gdLst/>
            <a:ahLst/>
            <a:cxnLst/>
            <a:rect l="l" t="t" r="r" b="b"/>
            <a:pathLst>
              <a:path w="20080605" h="196850">
                <a:moveTo>
                  <a:pt x="20080541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96329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247984" y="850493"/>
            <a:ext cx="2372360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195">
                <a:solidFill>
                  <a:srgbClr val="AFAFAF"/>
                </a:solidFill>
                <a:latin typeface="Consolas"/>
                <a:cs typeface="Consolas"/>
              </a:rPr>
              <a:t>HOMAHQA</a:t>
            </a:r>
            <a:r>
              <a:rPr dirty="0" sz="1650" spc="-100">
                <a:solidFill>
                  <a:srgbClr val="AFAFAF"/>
                </a:solidFill>
                <a:latin typeface="Consolas"/>
                <a:cs typeface="Consolas"/>
              </a:rPr>
              <a:t>  </a:t>
            </a:r>
            <a:r>
              <a:rPr dirty="0" sz="1650" spc="185">
                <a:solidFill>
                  <a:srgbClr val="A3A3A3"/>
                </a:solidFill>
                <a:latin typeface="Consolas"/>
                <a:cs typeface="Consolas"/>
              </a:rPr>
              <a:t>HTTP</a:t>
            </a:r>
            <a:r>
              <a:rPr dirty="0" sz="1650" spc="-145">
                <a:solidFill>
                  <a:srgbClr val="A3A3A3"/>
                </a:solidFill>
                <a:latin typeface="Consolas"/>
                <a:cs typeface="Consolas"/>
              </a:rPr>
              <a:t>  </a:t>
            </a:r>
            <a:r>
              <a:rPr dirty="0" sz="1650" spc="-200">
                <a:solidFill>
                  <a:srgbClr val="97A3B5"/>
                </a:solidFill>
                <a:latin typeface="Consolas"/>
                <a:cs typeface="Consolas"/>
              </a:rPr>
              <a:t>4</a:t>
            </a:r>
            <a:r>
              <a:rPr dirty="0" sz="1650" spc="-465">
                <a:solidFill>
                  <a:srgbClr val="97A3B5"/>
                </a:solidFill>
                <a:latin typeface="Consolas"/>
                <a:cs typeface="Consolas"/>
              </a:rPr>
              <a:t> </a:t>
            </a:r>
            <a:r>
              <a:rPr dirty="0" sz="1650" spc="40">
                <a:solidFill>
                  <a:srgbClr val="3D4B5B"/>
                </a:solidFill>
                <a:latin typeface="Consolas"/>
                <a:cs typeface="Consolas"/>
              </a:rPr>
              <a:t>18</a:t>
            </a:r>
            <a:endParaRPr sz="1650">
              <a:latin typeface="Consolas"/>
              <a:cs typeface="Consola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5706" y="1287918"/>
            <a:ext cx="20080605" cy="510540"/>
          </a:xfrm>
          <a:custGeom>
            <a:avLst/>
            <a:gdLst/>
            <a:ahLst/>
            <a:cxnLst/>
            <a:rect l="l" t="t" r="r" b="b"/>
            <a:pathLst>
              <a:path w="20080605" h="510539">
                <a:moveTo>
                  <a:pt x="20080541" y="510455"/>
                </a:moveTo>
                <a:lnTo>
                  <a:pt x="0" y="51045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10455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250" spc="-350">
                <a:latin typeface="Trebuchet MS"/>
                <a:cs typeface="Trebuchet MS"/>
              </a:rPr>
              <a:t>H£tC</a:t>
            </a:r>
            <a:r>
              <a:rPr dirty="0" sz="4250" spc="-640">
                <a:latin typeface="Trebuchet MS"/>
                <a:cs typeface="Trebuchet MS"/>
              </a:rPr>
              <a:t> </a:t>
            </a:r>
            <a:r>
              <a:rPr dirty="0" sz="4250" spc="315">
                <a:latin typeface="Trebuchet MS"/>
                <a:cs typeface="Trebuchet MS"/>
              </a:rPr>
              <a:t>gBoe</a:t>
            </a:r>
            <a:endParaRPr sz="4250">
              <a:latin typeface="Trebuchet MS"/>
              <a:cs typeface="Trebuchet MS"/>
            </a:endParaRP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706" y="4099351"/>
            <a:ext cx="20088393" cy="1821934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15706" y="6361062"/>
            <a:ext cx="20080605" cy="384810"/>
          </a:xfrm>
          <a:custGeom>
            <a:avLst/>
            <a:gdLst/>
            <a:ahLst/>
            <a:cxnLst/>
            <a:rect l="l" t="t" r="r" b="b"/>
            <a:pathLst>
              <a:path w="20080605" h="384809">
                <a:moveTo>
                  <a:pt x="20080541" y="384805"/>
                </a:moveTo>
                <a:lnTo>
                  <a:pt x="0" y="38480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384805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4405593" y="6270485"/>
            <a:ext cx="2911475" cy="477520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950">
                <a:solidFill>
                  <a:srgbClr val="FFFFFF"/>
                </a:solidFill>
                <a:latin typeface="Arial"/>
                <a:cs typeface="Arial"/>
              </a:rPr>
              <a:t>Сабадаш</a:t>
            </a:r>
            <a:r>
              <a:rPr dirty="0" sz="2950" spc="9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950" spc="-10">
                <a:solidFill>
                  <a:srgbClr val="FFFFFF"/>
                </a:solidFill>
                <a:latin typeface="Arial"/>
                <a:cs typeface="Arial"/>
              </a:rPr>
              <a:t>Павел</a:t>
            </a:r>
            <a:endParaRPr sz="29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725870" y="6246271"/>
            <a:ext cx="2987040" cy="4972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3100">
                <a:solidFill>
                  <a:srgbClr val="FFFFFF"/>
                </a:solidFill>
                <a:latin typeface="Arial"/>
                <a:cs typeface="Arial"/>
              </a:rPr>
              <a:t>Предков</a:t>
            </a:r>
            <a:r>
              <a:rPr dirty="0" sz="3100" spc="-1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3100" spc="-10">
                <a:solidFill>
                  <a:srgbClr val="FFFFFF"/>
                </a:solidFill>
                <a:latin typeface="Arial"/>
                <a:cs typeface="Arial"/>
              </a:rPr>
              <a:t>Никита</a:t>
            </a:r>
            <a:endParaRPr sz="31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5706" y="7633275"/>
            <a:ext cx="20080605" cy="227965"/>
            <a:chOff x="15706" y="7633275"/>
            <a:chExt cx="20080605" cy="227965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743037" y="7633275"/>
              <a:ext cx="973792" cy="21203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5706" y="7633275"/>
              <a:ext cx="20080605" cy="227965"/>
            </a:xfrm>
            <a:custGeom>
              <a:avLst/>
              <a:gdLst/>
              <a:ahLst/>
              <a:cxnLst/>
              <a:rect l="l" t="t" r="r" b="b"/>
              <a:pathLst>
                <a:path w="20080605" h="227965">
                  <a:moveTo>
                    <a:pt x="20080541" y="227741"/>
                  </a:moveTo>
                  <a:lnTo>
                    <a:pt x="0" y="227741"/>
                  </a:lnTo>
                  <a:lnTo>
                    <a:pt x="0" y="0"/>
                  </a:lnTo>
                  <a:lnTo>
                    <a:pt x="20080541" y="0"/>
                  </a:lnTo>
                  <a:lnTo>
                    <a:pt x="20080541" y="227741"/>
                  </a:lnTo>
                  <a:close/>
                </a:path>
              </a:pathLst>
            </a:custGeom>
            <a:solidFill>
              <a:srgbClr val="1113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236504" y="7556441"/>
            <a:ext cx="1245235" cy="3003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30">
                <a:solidFill>
                  <a:srgbClr val="B3B3B3"/>
                </a:solidFill>
                <a:latin typeface="Consolas"/>
                <a:cs typeface="Consolas"/>
              </a:rPr>
              <a:t>ȘPashal778</a:t>
            </a:r>
            <a:endParaRPr sz="18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5706" y="910967"/>
            <a:ext cx="20080605" cy="196850"/>
          </a:xfrm>
          <a:custGeom>
            <a:avLst/>
            <a:gdLst/>
            <a:ahLst/>
            <a:cxnLst/>
            <a:rect l="l" t="t" r="r" b="b"/>
            <a:pathLst>
              <a:path w="20080605" h="196850">
                <a:moveTo>
                  <a:pt x="20080541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96329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241649" y="850493"/>
            <a:ext cx="267525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210">
                <a:solidFill>
                  <a:srgbClr val="B5B5B5"/>
                </a:solidFill>
                <a:latin typeface="Consolas"/>
                <a:cs typeface="Consolas"/>
              </a:rPr>
              <a:t>IOCTAHOBHA</a:t>
            </a:r>
            <a:r>
              <a:rPr dirty="0" sz="1650" spc="-85">
                <a:solidFill>
                  <a:srgbClr val="B5B5B5"/>
                </a:solidFill>
                <a:latin typeface="Consolas"/>
                <a:cs typeface="Consolas"/>
              </a:rPr>
              <a:t>  </a:t>
            </a:r>
            <a:r>
              <a:rPr dirty="0" sz="1650">
                <a:solidFill>
                  <a:srgbClr val="999AB5"/>
                </a:solidFill>
                <a:latin typeface="Consolas"/>
                <a:cs typeface="Consolas"/>
              </a:rPr>
              <a:t>h</a:t>
            </a:r>
            <a:r>
              <a:rPr dirty="0" sz="1650" spc="-140">
                <a:solidFill>
                  <a:srgbClr val="999AB5"/>
                </a:solidFill>
                <a:latin typeface="Consolas"/>
                <a:cs typeface="Consolas"/>
              </a:rPr>
              <a:t>  </a:t>
            </a:r>
            <a:r>
              <a:rPr dirty="0" sz="1650" spc="-135">
                <a:solidFill>
                  <a:srgbClr val="B3B3B3"/>
                </a:solidFill>
                <a:latin typeface="Consolas"/>
                <a:cs typeface="Consolas"/>
              </a:rPr>
              <a:t>M</a:t>
            </a:r>
            <a:r>
              <a:rPr dirty="0" sz="1650" spc="-585">
                <a:solidFill>
                  <a:srgbClr val="B3B3B3"/>
                </a:solidFill>
                <a:latin typeface="Consolas"/>
                <a:cs typeface="Consolas"/>
              </a:rPr>
              <a:t> </a:t>
            </a:r>
            <a:r>
              <a:rPr dirty="0" sz="1650" spc="155">
                <a:solidFill>
                  <a:srgbClr val="A8A8A8"/>
                </a:solidFill>
                <a:latin typeface="Consolas"/>
                <a:cs typeface="Consolas"/>
              </a:rPr>
              <a:t>ETOQ</a:t>
            </a:r>
            <a:endParaRPr sz="1650">
              <a:latin typeface="Consolas"/>
              <a:cs typeface="Consolas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5706" y="1272212"/>
            <a:ext cx="20080605" cy="558165"/>
          </a:xfrm>
          <a:custGeom>
            <a:avLst/>
            <a:gdLst/>
            <a:ahLst/>
            <a:cxnLst/>
            <a:rect l="l" t="t" r="r" b="b"/>
            <a:pathLst>
              <a:path w="20080605" h="558164">
                <a:moveTo>
                  <a:pt x="20080541" y="557574"/>
                </a:moveTo>
                <a:lnTo>
                  <a:pt x="0" y="55757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57574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6985">
              <a:lnSpc>
                <a:spcPct val="100000"/>
              </a:lnSpc>
              <a:spcBef>
                <a:spcPts val="105"/>
              </a:spcBef>
            </a:pPr>
            <a:r>
              <a:rPr dirty="0" spc="-190"/>
              <a:t>TCP</a:t>
            </a:r>
            <a:r>
              <a:rPr dirty="0" spc="-395"/>
              <a:t> </a:t>
            </a:r>
            <a:r>
              <a:rPr dirty="0" spc="-25"/>
              <a:t>разрезает</a:t>
            </a:r>
            <a:r>
              <a:rPr dirty="0" spc="-114"/>
              <a:t> </a:t>
            </a:r>
            <a:r>
              <a:rPr dirty="0"/>
              <a:t>сообщения </a:t>
            </a:r>
            <a:r>
              <a:rPr dirty="0" spc="-10"/>
              <a:t>посередине</a:t>
            </a:r>
          </a:p>
        </p:txBody>
      </p:sp>
      <p:sp>
        <p:nvSpPr>
          <p:cNvPr id="7" name="object 7"/>
          <p:cNvSpPr/>
          <p:nvPr/>
        </p:nvSpPr>
        <p:spPr>
          <a:xfrm>
            <a:off x="15706" y="4821842"/>
            <a:ext cx="20080605" cy="212090"/>
          </a:xfrm>
          <a:custGeom>
            <a:avLst/>
            <a:gdLst/>
            <a:ahLst/>
            <a:cxnLst/>
            <a:rect l="l" t="t" r="r" b="b"/>
            <a:pathLst>
              <a:path w="20080605" h="212089">
                <a:moveTo>
                  <a:pt x="20080541" y="212035"/>
                </a:moveTo>
                <a:lnTo>
                  <a:pt x="0" y="21203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1203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2855790" y="4743699"/>
            <a:ext cx="90233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120">
                <a:solidFill>
                  <a:srgbClr val="FFFFFF"/>
                </a:solidFill>
                <a:latin typeface="Arial"/>
                <a:cs typeface="Arial"/>
              </a:rPr>
              <a:t>Flaxes</a:t>
            </a:r>
            <a:r>
              <a:rPr dirty="0" sz="2050" spc="-1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5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20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66154" y="4743699"/>
            <a:ext cx="920750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105">
                <a:solidFill>
                  <a:srgbClr val="FFFFFF"/>
                </a:solidFill>
                <a:latin typeface="Arial"/>
                <a:cs typeface="Arial"/>
              </a:rPr>
              <a:t>Flaxes</a:t>
            </a:r>
            <a:r>
              <a:rPr dirty="0" sz="20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5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20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119879" y="4743699"/>
            <a:ext cx="925830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110">
                <a:solidFill>
                  <a:srgbClr val="FFFFFF"/>
                </a:solidFill>
                <a:latin typeface="Arial"/>
                <a:cs typeface="Arial"/>
              </a:rPr>
              <a:t>Flaxes</a:t>
            </a:r>
            <a:r>
              <a:rPr dirty="0" sz="20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50">
                <a:solidFill>
                  <a:srgbClr val="FFFFFF"/>
                </a:solidFill>
                <a:latin typeface="Arial"/>
                <a:cs typeface="Arial"/>
              </a:rPr>
              <a:t>õ</a:t>
            </a:r>
            <a:endParaRPr sz="205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5706" y="5685690"/>
            <a:ext cx="20088860" cy="204470"/>
            <a:chOff x="15706" y="5685690"/>
            <a:chExt cx="20088860" cy="204470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706" y="5685690"/>
              <a:ext cx="20088393" cy="20418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706" y="5685690"/>
              <a:ext cx="20088393" cy="204182"/>
            </a:xfrm>
            <a:prstGeom prst="rect">
              <a:avLst/>
            </a:prstGeom>
          </p:spPr>
        </p:pic>
      </p:grpSp>
      <p:sp>
        <p:nvSpPr>
          <p:cNvPr id="2" name="object 2"/>
          <p:cNvSpPr/>
          <p:nvPr/>
        </p:nvSpPr>
        <p:spPr>
          <a:xfrm>
            <a:off x="15706" y="6078349"/>
            <a:ext cx="20088860" cy="220345"/>
          </a:xfrm>
          <a:custGeom>
            <a:avLst/>
            <a:gdLst/>
            <a:ahLst/>
            <a:cxnLst/>
            <a:rect l="l" t="t" r="r" b="b"/>
            <a:pathLst>
              <a:path w="20088860" h="220345">
                <a:moveTo>
                  <a:pt x="0" y="0"/>
                </a:moveTo>
                <a:lnTo>
                  <a:pt x="20088394" y="0"/>
                </a:lnTo>
                <a:lnTo>
                  <a:pt x="20088394" y="219888"/>
                </a:lnTo>
                <a:lnTo>
                  <a:pt x="0" y="219888"/>
                </a:lnTo>
                <a:lnTo>
                  <a:pt x="0" y="0"/>
                </a:lnTo>
                <a:close/>
              </a:path>
            </a:pathLst>
          </a:custGeom>
          <a:solidFill>
            <a:srgbClr val="F49E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15706" y="7853164"/>
            <a:ext cx="20080605" cy="353695"/>
          </a:xfrm>
          <a:custGeom>
            <a:avLst/>
            <a:gdLst/>
            <a:ahLst/>
            <a:cxnLst/>
            <a:rect l="l" t="t" r="r" b="b"/>
            <a:pathLst>
              <a:path w="20080605" h="353695">
                <a:moveTo>
                  <a:pt x="20080541" y="353392"/>
                </a:moveTo>
                <a:lnTo>
                  <a:pt x="0" y="353392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353392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5426094" y="7756042"/>
            <a:ext cx="6908800" cy="43815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2700" spc="105">
                <a:solidFill>
                  <a:srgbClr val="FFFFFF"/>
                </a:solidFill>
                <a:latin typeface="Arial"/>
                <a:cs typeface="Arial"/>
              </a:rPr>
              <a:t>Границы</a:t>
            </a:r>
            <a:r>
              <a:rPr dirty="0" sz="2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700" spc="50">
                <a:solidFill>
                  <a:srgbClr val="FFFFFF"/>
                </a:solidFill>
                <a:latin typeface="Arial"/>
                <a:cs typeface="Arial"/>
              </a:rPr>
              <a:t>пакета</a:t>
            </a:r>
            <a:r>
              <a:rPr dirty="0" sz="2700" spc="-1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700">
                <a:solidFill>
                  <a:srgbClr val="FFFFFF"/>
                </a:solidFill>
                <a:latin typeface="Arial"/>
                <a:cs typeface="Arial"/>
              </a:rPr>
              <a:t>и</a:t>
            </a:r>
            <a:r>
              <a:rPr dirty="0" sz="2700" spc="-1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700" spc="145">
                <a:solidFill>
                  <a:srgbClr val="FFFFFF"/>
                </a:solidFill>
                <a:latin typeface="Arial"/>
                <a:cs typeface="Arial"/>
              </a:rPr>
              <a:t>границы</a:t>
            </a:r>
            <a:r>
              <a:rPr dirty="0" sz="2700" spc="-1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700" spc="85">
                <a:solidFill>
                  <a:srgbClr val="FFFFFF"/>
                </a:solidFill>
                <a:latin typeface="Arial"/>
                <a:cs typeface="Arial"/>
              </a:rPr>
              <a:t>сообщения</a:t>
            </a:r>
            <a:r>
              <a:rPr dirty="0" sz="2700" spc="3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700" spc="-59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endParaRPr sz="2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910967"/>
            <a:ext cx="20096480" cy="196850"/>
          </a:xfrm>
          <a:custGeom>
            <a:avLst/>
            <a:gdLst/>
            <a:ahLst/>
            <a:cxnLst/>
            <a:rect l="l" t="t" r="r" b="b"/>
            <a:pathLst>
              <a:path w="20096480" h="196850">
                <a:moveTo>
                  <a:pt x="20096248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96248" y="0"/>
                </a:lnTo>
                <a:lnTo>
                  <a:pt x="20096248" y="196329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41649" y="850493"/>
            <a:ext cx="267525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210">
                <a:solidFill>
                  <a:srgbClr val="B5B5B5"/>
                </a:solidFill>
                <a:latin typeface="Consolas"/>
                <a:cs typeface="Consolas"/>
              </a:rPr>
              <a:t>IOCTAHOBHA</a:t>
            </a:r>
            <a:r>
              <a:rPr dirty="0" sz="1650" spc="-85">
                <a:solidFill>
                  <a:srgbClr val="B5B5B5"/>
                </a:solidFill>
                <a:latin typeface="Consolas"/>
                <a:cs typeface="Consolas"/>
              </a:rPr>
              <a:t>  </a:t>
            </a:r>
            <a:r>
              <a:rPr dirty="0" sz="1650">
                <a:solidFill>
                  <a:srgbClr val="999AB5"/>
                </a:solidFill>
                <a:latin typeface="Consolas"/>
                <a:cs typeface="Consolas"/>
              </a:rPr>
              <a:t>h</a:t>
            </a:r>
            <a:r>
              <a:rPr dirty="0" sz="1650" spc="-140">
                <a:solidFill>
                  <a:srgbClr val="999AB5"/>
                </a:solidFill>
                <a:latin typeface="Consolas"/>
                <a:cs typeface="Consolas"/>
              </a:rPr>
              <a:t>  </a:t>
            </a:r>
            <a:r>
              <a:rPr dirty="0" sz="1650" spc="-135">
                <a:solidFill>
                  <a:srgbClr val="B3B3B3"/>
                </a:solidFill>
                <a:latin typeface="Consolas"/>
                <a:cs typeface="Consolas"/>
              </a:rPr>
              <a:t>M</a:t>
            </a:r>
            <a:r>
              <a:rPr dirty="0" sz="1650" spc="-585">
                <a:solidFill>
                  <a:srgbClr val="B3B3B3"/>
                </a:solidFill>
                <a:latin typeface="Consolas"/>
                <a:cs typeface="Consolas"/>
              </a:rPr>
              <a:t> </a:t>
            </a:r>
            <a:r>
              <a:rPr dirty="0" sz="1650" spc="155">
                <a:solidFill>
                  <a:srgbClr val="A8A8A8"/>
                </a:solidFill>
                <a:latin typeface="Consolas"/>
                <a:cs typeface="Consolas"/>
              </a:rPr>
              <a:t>ETOQ</a:t>
            </a:r>
            <a:endParaRPr sz="1650">
              <a:latin typeface="Consolas"/>
              <a:cs typeface="Consola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89498" y="1272212"/>
            <a:ext cx="4610100" cy="573405"/>
          </a:xfrm>
          <a:custGeom>
            <a:avLst/>
            <a:gdLst/>
            <a:ahLst/>
            <a:cxnLst/>
            <a:rect l="l" t="t" r="r" b="b"/>
            <a:pathLst>
              <a:path w="4610100" h="573405">
                <a:moveTo>
                  <a:pt x="4609807" y="573281"/>
                </a:moveTo>
                <a:lnTo>
                  <a:pt x="0" y="573281"/>
                </a:lnTo>
                <a:lnTo>
                  <a:pt x="0" y="0"/>
                </a:lnTo>
                <a:lnTo>
                  <a:pt x="4609807" y="0"/>
                </a:lnTo>
                <a:lnTo>
                  <a:pt x="4609807" y="573281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984167" y="1110302"/>
            <a:ext cx="4601845" cy="732790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4600" spc="-10">
                <a:latin typeface="Trebuchet MS"/>
                <a:cs typeface="Trebuchet MS"/>
              </a:rPr>
              <a:t>Дано</a:t>
            </a:r>
            <a:r>
              <a:rPr dirty="0" sz="4600" spc="-470">
                <a:latin typeface="Trebuchet MS"/>
                <a:cs typeface="Trebuchet MS"/>
              </a:rPr>
              <a:t> </a:t>
            </a:r>
            <a:r>
              <a:rPr dirty="0" sz="4600" spc="50">
                <a:latin typeface="Trebuchet MS"/>
                <a:cs typeface="Trebuchet MS"/>
              </a:rPr>
              <a:t>и</a:t>
            </a:r>
            <a:r>
              <a:rPr dirty="0" sz="4600" spc="-795">
                <a:latin typeface="Trebuchet MS"/>
                <a:cs typeface="Trebuchet MS"/>
              </a:rPr>
              <a:t> </a:t>
            </a:r>
            <a:r>
              <a:rPr dirty="0" sz="4600" spc="-10">
                <a:latin typeface="Trebuchet MS"/>
                <a:cs typeface="Trebuchet MS"/>
              </a:rPr>
              <a:t>требуется</a:t>
            </a:r>
            <a:endParaRPr sz="4600">
              <a:latin typeface="Trebuchet MS"/>
              <a:cs typeface="Trebuchet M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900465" y="4649073"/>
            <a:ext cx="7107555" cy="290830"/>
          </a:xfrm>
          <a:custGeom>
            <a:avLst/>
            <a:gdLst/>
            <a:ahLst/>
            <a:cxnLst/>
            <a:rect l="l" t="t" r="r" b="b"/>
            <a:pathLst>
              <a:path w="7107555" h="290829">
                <a:moveTo>
                  <a:pt x="7107113" y="290567"/>
                </a:moveTo>
                <a:lnTo>
                  <a:pt x="0" y="290567"/>
                </a:lnTo>
                <a:lnTo>
                  <a:pt x="0" y="0"/>
                </a:lnTo>
                <a:lnTo>
                  <a:pt x="7107113" y="0"/>
                </a:lnTo>
                <a:lnTo>
                  <a:pt x="7107113" y="290567"/>
                </a:lnTo>
                <a:close/>
              </a:path>
            </a:pathLst>
          </a:custGeom>
          <a:solidFill>
            <a:srgbClr val="181C24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892253" y="4553915"/>
            <a:ext cx="7095490" cy="3790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2300" spc="-100">
                <a:solidFill>
                  <a:srgbClr val="FFFFFF"/>
                </a:solidFill>
                <a:latin typeface="Arial"/>
                <a:cs typeface="Arial"/>
              </a:rPr>
              <a:t>Захваты</a:t>
            </a:r>
            <a:r>
              <a:rPr dirty="0" sz="23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105">
                <a:solidFill>
                  <a:srgbClr val="F2F2F2"/>
                </a:solidFill>
                <a:latin typeface="Arial"/>
                <a:cs typeface="Arial"/>
              </a:rPr>
              <a:t>pcap</a:t>
            </a:r>
            <a:r>
              <a:rPr dirty="0" sz="2300" spc="-145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300" spc="55">
                <a:solidFill>
                  <a:srgbClr val="D3E4F7"/>
                </a:solidFill>
                <a:latin typeface="Arial"/>
                <a:cs typeface="Arial"/>
              </a:rPr>
              <a:t>/</a:t>
            </a:r>
            <a:r>
              <a:rPr dirty="0" sz="2300" spc="80">
                <a:solidFill>
                  <a:srgbClr val="D3E4F7"/>
                </a:solidFill>
                <a:latin typeface="Arial"/>
                <a:cs typeface="Arial"/>
              </a:rPr>
              <a:t> </a:t>
            </a:r>
            <a:r>
              <a:rPr dirty="0" sz="2300" spc="80">
                <a:solidFill>
                  <a:srgbClr val="F6F6F6"/>
                </a:solidFill>
                <a:latin typeface="Arial"/>
                <a:cs typeface="Arial"/>
              </a:rPr>
              <a:t>pcapng</a:t>
            </a:r>
            <a:r>
              <a:rPr dirty="0" sz="2300" spc="-90">
                <a:solidFill>
                  <a:srgbClr val="F6F6F6"/>
                </a:solidFill>
                <a:latin typeface="Arial"/>
                <a:cs typeface="Arial"/>
              </a:rPr>
              <a:t> </a:t>
            </a:r>
            <a:r>
              <a:rPr dirty="0" sz="2300" spc="-35">
                <a:solidFill>
                  <a:srgbClr val="FFFFFF"/>
                </a:solidFill>
                <a:latin typeface="Arial"/>
                <a:cs typeface="Arial"/>
              </a:rPr>
              <a:t>и</a:t>
            </a:r>
            <a:r>
              <a:rPr dirty="0" sz="2300" spc="-18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105">
                <a:solidFill>
                  <a:srgbClr val="F4F4F4"/>
                </a:solidFill>
                <a:latin typeface="Arial"/>
                <a:cs typeface="Arial"/>
              </a:rPr>
              <a:t>журнал</a:t>
            </a:r>
            <a:r>
              <a:rPr dirty="0" sz="2300" spc="-75">
                <a:solidFill>
                  <a:srgbClr val="F4F4F4"/>
                </a:solidFill>
                <a:latin typeface="Arial"/>
                <a:cs typeface="Arial"/>
              </a:rPr>
              <a:t> </a:t>
            </a:r>
            <a:r>
              <a:rPr dirty="0" sz="2300" spc="-80">
                <a:solidFill>
                  <a:srgbClr val="F2F2F2"/>
                </a:solidFill>
                <a:latin typeface="Arial"/>
                <a:cs typeface="Arial"/>
              </a:rPr>
              <a:t>действий</a:t>
            </a:r>
            <a:r>
              <a:rPr dirty="0" sz="2300" spc="-10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300" spc="-35">
                <a:solidFill>
                  <a:srgbClr val="FFFFFF"/>
                </a:solidFill>
                <a:latin typeface="Arial"/>
                <a:cs typeface="Arial"/>
              </a:rPr>
              <a:t>устройства</a:t>
            </a:r>
            <a:endParaRPr sz="23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1167198" y="4649073"/>
            <a:ext cx="6699250" cy="290830"/>
          </a:xfrm>
          <a:custGeom>
            <a:avLst/>
            <a:gdLst/>
            <a:ahLst/>
            <a:cxnLst/>
            <a:rect l="l" t="t" r="r" b="b"/>
            <a:pathLst>
              <a:path w="6699250" h="290829">
                <a:moveTo>
                  <a:pt x="6698749" y="290567"/>
                </a:moveTo>
                <a:lnTo>
                  <a:pt x="0" y="290567"/>
                </a:lnTo>
                <a:lnTo>
                  <a:pt x="0" y="0"/>
                </a:lnTo>
                <a:lnTo>
                  <a:pt x="6698749" y="0"/>
                </a:lnTo>
                <a:lnTo>
                  <a:pt x="6698749" y="290567"/>
                </a:lnTo>
                <a:close/>
              </a:path>
            </a:pathLst>
          </a:custGeom>
          <a:solidFill>
            <a:srgbClr val="181C24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11155049" y="4553915"/>
            <a:ext cx="6699250" cy="3790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2300" spc="-90">
                <a:solidFill>
                  <a:srgbClr val="FFFFFF"/>
                </a:solidFill>
                <a:latin typeface="Arial"/>
                <a:cs typeface="Arial"/>
              </a:rPr>
              <a:t>Проверяемая</a:t>
            </a:r>
            <a:r>
              <a:rPr dirty="0" sz="2300" spc="-7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80">
                <a:solidFill>
                  <a:srgbClr val="F2F2F2"/>
                </a:solidFill>
                <a:latin typeface="Arial"/>
                <a:cs typeface="Arial"/>
              </a:rPr>
              <a:t>интерпретация</a:t>
            </a:r>
            <a:r>
              <a:rPr dirty="0" sz="2300" spc="40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300" spc="-70">
                <a:solidFill>
                  <a:srgbClr val="F6F6F6"/>
                </a:solidFill>
                <a:latin typeface="Arial"/>
                <a:cs typeface="Arial"/>
              </a:rPr>
              <a:t>структуры</a:t>
            </a:r>
            <a:r>
              <a:rPr dirty="0" sz="2300" spc="-65">
                <a:solidFill>
                  <a:srgbClr val="F6F6F6"/>
                </a:solidFill>
                <a:latin typeface="Arial"/>
                <a:cs typeface="Arial"/>
              </a:rPr>
              <a:t> </a:t>
            </a:r>
            <a:r>
              <a:rPr dirty="0" sz="2300" spc="-20">
                <a:solidFill>
                  <a:srgbClr val="FFFFFF"/>
                </a:solidFill>
                <a:latin typeface="Arial"/>
                <a:cs typeface="Arial"/>
              </a:rPr>
              <a:t>сообщений</a:t>
            </a:r>
            <a:endParaRPr sz="230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963291" y="5214501"/>
            <a:ext cx="3872229" cy="290830"/>
          </a:xfrm>
          <a:custGeom>
            <a:avLst/>
            <a:gdLst/>
            <a:ahLst/>
            <a:cxnLst/>
            <a:rect l="l" t="t" r="r" b="b"/>
            <a:pathLst>
              <a:path w="3872229" h="290829">
                <a:moveTo>
                  <a:pt x="3871610" y="290567"/>
                </a:moveTo>
                <a:lnTo>
                  <a:pt x="0" y="290567"/>
                </a:lnTo>
                <a:lnTo>
                  <a:pt x="0" y="0"/>
                </a:lnTo>
                <a:lnTo>
                  <a:pt x="3871610" y="0"/>
                </a:lnTo>
                <a:lnTo>
                  <a:pt x="3871610" y="290567"/>
                </a:lnTo>
                <a:close/>
              </a:path>
            </a:pathLst>
          </a:custGeom>
          <a:solidFill>
            <a:srgbClr val="181C2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951627" y="5119342"/>
            <a:ext cx="3877310" cy="3790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2300" spc="-70">
                <a:solidFill>
                  <a:srgbClr val="FFFFFF"/>
                </a:solidFill>
                <a:latin typeface="Arial"/>
                <a:cs typeface="Arial"/>
              </a:rPr>
              <a:t>Спецификации</a:t>
            </a:r>
            <a:r>
              <a:rPr dirty="0" sz="23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95">
                <a:solidFill>
                  <a:srgbClr val="F9F9F9"/>
                </a:solidFill>
                <a:latin typeface="Arial"/>
                <a:cs typeface="Arial"/>
              </a:rPr>
              <a:t>протокола</a:t>
            </a:r>
            <a:r>
              <a:rPr dirty="0" sz="2300" spc="-6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dirty="0" sz="2300" spc="-25">
                <a:solidFill>
                  <a:srgbClr val="F0F0F0"/>
                </a:solidFill>
                <a:latin typeface="Arial"/>
                <a:cs typeface="Arial"/>
              </a:rPr>
              <a:t>нет</a:t>
            </a:r>
            <a:endParaRPr sz="23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230024" y="5214501"/>
            <a:ext cx="6494780" cy="290830"/>
          </a:xfrm>
          <a:custGeom>
            <a:avLst/>
            <a:gdLst/>
            <a:ahLst/>
            <a:cxnLst/>
            <a:rect l="l" t="t" r="r" b="b"/>
            <a:pathLst>
              <a:path w="6494780" h="290829">
                <a:moveTo>
                  <a:pt x="6494567" y="290567"/>
                </a:moveTo>
                <a:lnTo>
                  <a:pt x="0" y="290567"/>
                </a:lnTo>
                <a:lnTo>
                  <a:pt x="0" y="0"/>
                </a:lnTo>
                <a:lnTo>
                  <a:pt x="6494567" y="0"/>
                </a:lnTo>
                <a:lnTo>
                  <a:pt x="6494567" y="290567"/>
                </a:lnTo>
                <a:close/>
              </a:path>
            </a:pathLst>
          </a:custGeom>
          <a:solidFill>
            <a:srgbClr val="1C1A2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11219311" y="5119342"/>
            <a:ext cx="6486525" cy="3790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2300" spc="-85">
                <a:solidFill>
                  <a:srgbClr val="FFFFFF"/>
                </a:solidFill>
                <a:latin typeface="Arial"/>
                <a:cs typeface="Arial"/>
              </a:rPr>
              <a:t>Видно,</a:t>
            </a:r>
            <a:r>
              <a:rPr dirty="0" sz="2300" spc="-1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90">
                <a:solidFill>
                  <a:srgbClr val="EFEFEF"/>
                </a:solidFill>
                <a:latin typeface="Arial"/>
                <a:cs typeface="Arial"/>
              </a:rPr>
              <a:t>где</a:t>
            </a:r>
            <a:r>
              <a:rPr dirty="0" sz="2300" spc="-160">
                <a:solidFill>
                  <a:srgbClr val="EFEFEF"/>
                </a:solidFill>
                <a:latin typeface="Arial"/>
                <a:cs typeface="Arial"/>
              </a:rPr>
              <a:t> </a:t>
            </a:r>
            <a:r>
              <a:rPr dirty="0" sz="2300" spc="-85">
                <a:solidFill>
                  <a:srgbClr val="F4F4F4"/>
                </a:solidFill>
                <a:latin typeface="Arial"/>
                <a:cs typeface="Arial"/>
              </a:rPr>
              <a:t>чтение</a:t>
            </a:r>
            <a:r>
              <a:rPr dirty="0" sz="2300" spc="-114">
                <a:solidFill>
                  <a:srgbClr val="F4F4F4"/>
                </a:solidFill>
                <a:latin typeface="Arial"/>
                <a:cs typeface="Arial"/>
              </a:rPr>
              <a:t> </a:t>
            </a:r>
            <a:r>
              <a:rPr dirty="0" sz="2300" spc="-80">
                <a:solidFill>
                  <a:srgbClr val="F4F4F4"/>
                </a:solidFill>
                <a:latin typeface="Arial"/>
                <a:cs typeface="Arial"/>
              </a:rPr>
              <a:t>верно,</a:t>
            </a:r>
            <a:r>
              <a:rPr dirty="0" sz="2300" spc="-145">
                <a:solidFill>
                  <a:srgbClr val="F4F4F4"/>
                </a:solidFill>
                <a:latin typeface="Arial"/>
                <a:cs typeface="Arial"/>
              </a:rPr>
              <a:t> </a:t>
            </a:r>
            <a:r>
              <a:rPr dirty="0" sz="2300" spc="-85">
                <a:solidFill>
                  <a:srgbClr val="EFEFEF"/>
                </a:solidFill>
                <a:latin typeface="Arial"/>
                <a:cs typeface="Arial"/>
              </a:rPr>
              <a:t>а</a:t>
            </a:r>
            <a:r>
              <a:rPr dirty="0" sz="2300" spc="-145">
                <a:solidFill>
                  <a:srgbClr val="EFEFEF"/>
                </a:solidFill>
                <a:latin typeface="Arial"/>
                <a:cs typeface="Arial"/>
              </a:rPr>
              <a:t> </a:t>
            </a:r>
            <a:r>
              <a:rPr dirty="0" sz="2300" spc="-114">
                <a:solidFill>
                  <a:srgbClr val="F0F0F0"/>
                </a:solidFill>
                <a:latin typeface="Arial"/>
                <a:cs typeface="Arial"/>
              </a:rPr>
              <a:t>где</a:t>
            </a:r>
            <a:r>
              <a:rPr dirty="0" sz="2300" spc="-165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2300" spc="-80">
                <a:solidFill>
                  <a:srgbClr val="FFFFFF"/>
                </a:solidFill>
                <a:latin typeface="Arial"/>
                <a:cs typeface="Arial"/>
              </a:rPr>
              <a:t>перестаёт</a:t>
            </a:r>
            <a:r>
              <a:rPr dirty="0" sz="23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25">
                <a:solidFill>
                  <a:srgbClr val="F6F6F6"/>
                </a:solidFill>
                <a:latin typeface="Arial"/>
                <a:cs typeface="Arial"/>
              </a:rPr>
              <a:t>работать</a:t>
            </a:r>
            <a:endParaRPr sz="23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136060" y="6863665"/>
            <a:ext cx="15415894" cy="259715"/>
          </a:xfrm>
          <a:custGeom>
            <a:avLst/>
            <a:gdLst/>
            <a:ahLst/>
            <a:cxnLst/>
            <a:rect l="l" t="t" r="r" b="b"/>
            <a:pathLst>
              <a:path w="15415894" h="259715">
                <a:moveTo>
                  <a:pt x="15415762" y="259154"/>
                </a:moveTo>
                <a:lnTo>
                  <a:pt x="0" y="259154"/>
                </a:lnTo>
                <a:lnTo>
                  <a:pt x="0" y="0"/>
                </a:lnTo>
                <a:lnTo>
                  <a:pt x="15415762" y="0"/>
                </a:lnTo>
                <a:lnTo>
                  <a:pt x="15415762" y="259154"/>
                </a:lnTo>
                <a:close/>
              </a:path>
            </a:pathLst>
          </a:custGeom>
          <a:solidFill>
            <a:srgbClr val="181C2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7162085" y="7586156"/>
            <a:ext cx="432434" cy="259715"/>
          </a:xfrm>
          <a:custGeom>
            <a:avLst/>
            <a:gdLst/>
            <a:ahLst/>
            <a:cxnLst/>
            <a:rect l="l" t="t" r="r" b="b"/>
            <a:pathLst>
              <a:path w="432434" h="259715">
                <a:moveTo>
                  <a:pt x="431924" y="259154"/>
                </a:moveTo>
                <a:lnTo>
                  <a:pt x="0" y="259154"/>
                </a:lnTo>
                <a:lnTo>
                  <a:pt x="0" y="0"/>
                </a:lnTo>
                <a:lnTo>
                  <a:pt x="431924" y="0"/>
                </a:lnTo>
                <a:lnTo>
                  <a:pt x="431924" y="259154"/>
                </a:lnTo>
                <a:close/>
              </a:path>
            </a:pathLst>
          </a:custGeom>
          <a:solidFill>
            <a:srgbClr val="050F0C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2" name="object 12"/>
          <p:cNvGrpSpPr/>
          <p:nvPr/>
        </p:nvGrpSpPr>
        <p:grpSpPr>
          <a:xfrm>
            <a:off x="9423796" y="7586156"/>
            <a:ext cx="440055" cy="267335"/>
            <a:chOff x="9423796" y="7586156"/>
            <a:chExt cx="440055" cy="267335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423796" y="7586156"/>
              <a:ext cx="439777" cy="26700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423796" y="7586156"/>
              <a:ext cx="439777" cy="267007"/>
            </a:xfrm>
            <a:prstGeom prst="rect">
              <a:avLst/>
            </a:prstGeom>
          </p:spPr>
        </p:pic>
      </p:grpSp>
      <p:sp>
        <p:nvSpPr>
          <p:cNvPr id="15" name="object 15"/>
          <p:cNvSpPr/>
          <p:nvPr/>
        </p:nvSpPr>
        <p:spPr>
          <a:xfrm>
            <a:off x="10177700" y="7586156"/>
            <a:ext cx="432434" cy="259715"/>
          </a:xfrm>
          <a:custGeom>
            <a:avLst/>
            <a:gdLst/>
            <a:ahLst/>
            <a:cxnLst/>
            <a:rect l="l" t="t" r="r" b="b"/>
            <a:pathLst>
              <a:path w="432434" h="259715">
                <a:moveTo>
                  <a:pt x="431924" y="259154"/>
                </a:moveTo>
                <a:lnTo>
                  <a:pt x="0" y="259154"/>
                </a:lnTo>
                <a:lnTo>
                  <a:pt x="0" y="0"/>
                </a:lnTo>
                <a:lnTo>
                  <a:pt x="431924" y="0"/>
                </a:lnTo>
                <a:lnTo>
                  <a:pt x="431924" y="259154"/>
                </a:lnTo>
                <a:close/>
              </a:path>
            </a:pathLst>
          </a:custGeom>
          <a:solidFill>
            <a:srgbClr val="050F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10947310" y="7586156"/>
            <a:ext cx="416559" cy="274955"/>
          </a:xfrm>
          <a:custGeom>
            <a:avLst/>
            <a:gdLst/>
            <a:ahLst/>
            <a:cxnLst/>
            <a:rect l="l" t="t" r="r" b="b"/>
            <a:pathLst>
              <a:path w="416559" h="274954">
                <a:moveTo>
                  <a:pt x="416217" y="274860"/>
                </a:moveTo>
                <a:lnTo>
                  <a:pt x="0" y="274860"/>
                </a:lnTo>
                <a:lnTo>
                  <a:pt x="0" y="0"/>
                </a:lnTo>
                <a:lnTo>
                  <a:pt x="416217" y="0"/>
                </a:lnTo>
                <a:lnTo>
                  <a:pt x="416217" y="274860"/>
                </a:lnTo>
                <a:close/>
              </a:path>
            </a:pathLst>
          </a:custGeom>
          <a:solidFill>
            <a:srgbClr val="0F131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/>
          <p:nvPr/>
        </p:nvSpPr>
        <p:spPr>
          <a:xfrm>
            <a:off x="11685508" y="7586156"/>
            <a:ext cx="432434" cy="259715"/>
          </a:xfrm>
          <a:custGeom>
            <a:avLst/>
            <a:gdLst/>
            <a:ahLst/>
            <a:cxnLst/>
            <a:rect l="l" t="t" r="r" b="b"/>
            <a:pathLst>
              <a:path w="432434" h="259715">
                <a:moveTo>
                  <a:pt x="431924" y="259154"/>
                </a:moveTo>
                <a:lnTo>
                  <a:pt x="0" y="259154"/>
                </a:lnTo>
                <a:lnTo>
                  <a:pt x="0" y="0"/>
                </a:lnTo>
                <a:lnTo>
                  <a:pt x="431924" y="0"/>
                </a:lnTo>
                <a:lnTo>
                  <a:pt x="431924" y="259154"/>
                </a:lnTo>
                <a:close/>
              </a:path>
            </a:pathLst>
          </a:custGeom>
          <a:solidFill>
            <a:srgbClr val="050F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12439412" y="7586156"/>
            <a:ext cx="432434" cy="259715"/>
          </a:xfrm>
          <a:custGeom>
            <a:avLst/>
            <a:gdLst/>
            <a:ahLst/>
            <a:cxnLst/>
            <a:rect l="l" t="t" r="r" b="b"/>
            <a:pathLst>
              <a:path w="432434" h="259715">
                <a:moveTo>
                  <a:pt x="431924" y="259154"/>
                </a:moveTo>
                <a:lnTo>
                  <a:pt x="0" y="259154"/>
                </a:lnTo>
                <a:lnTo>
                  <a:pt x="0" y="0"/>
                </a:lnTo>
                <a:lnTo>
                  <a:pt x="431924" y="0"/>
                </a:lnTo>
                <a:lnTo>
                  <a:pt x="431924" y="259154"/>
                </a:lnTo>
                <a:close/>
              </a:path>
            </a:pathLst>
          </a:custGeom>
          <a:solidFill>
            <a:srgbClr val="050F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13193315" y="7586156"/>
            <a:ext cx="432434" cy="259715"/>
          </a:xfrm>
          <a:custGeom>
            <a:avLst/>
            <a:gdLst/>
            <a:ahLst/>
            <a:cxnLst/>
            <a:rect l="l" t="t" r="r" b="b"/>
            <a:pathLst>
              <a:path w="432434" h="259715">
                <a:moveTo>
                  <a:pt x="431924" y="259154"/>
                </a:moveTo>
                <a:lnTo>
                  <a:pt x="0" y="259154"/>
                </a:lnTo>
                <a:lnTo>
                  <a:pt x="0" y="0"/>
                </a:lnTo>
                <a:lnTo>
                  <a:pt x="431924" y="0"/>
                </a:lnTo>
                <a:lnTo>
                  <a:pt x="431924" y="259154"/>
                </a:lnTo>
                <a:close/>
              </a:path>
            </a:pathLst>
          </a:custGeom>
          <a:solidFill>
            <a:srgbClr val="050F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2125212" y="6769162"/>
            <a:ext cx="15438755" cy="114998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15318740" algn="l"/>
              </a:tabLst>
            </a:pPr>
            <a:r>
              <a:rPr dirty="0" sz="2200" spc="-190">
                <a:solidFill>
                  <a:srgbClr val="AFAFAF"/>
                </a:solidFill>
                <a:latin typeface="Arial"/>
                <a:cs typeface="Arial"/>
              </a:rPr>
              <a:t>Смещение</a:t>
            </a:r>
            <a:r>
              <a:rPr dirty="0" sz="2200" spc="-40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200" spc="-210">
                <a:solidFill>
                  <a:srgbClr val="BABABA"/>
                </a:solidFill>
                <a:latin typeface="Arial"/>
                <a:cs typeface="Arial"/>
              </a:rPr>
              <a:t>полл</a:t>
            </a:r>
            <a:r>
              <a:rPr dirty="0" sz="2200" spc="-105">
                <a:solidFill>
                  <a:srgbClr val="BABABA"/>
                </a:solidFill>
                <a:latin typeface="Arial"/>
                <a:cs typeface="Arial"/>
              </a:rPr>
              <a:t> </a:t>
            </a:r>
            <a:r>
              <a:rPr dirty="0" sz="2200" spc="-185">
                <a:solidFill>
                  <a:srgbClr val="B6B6B6"/>
                </a:solidFill>
                <a:latin typeface="Arial"/>
                <a:cs typeface="Arial"/>
              </a:rPr>
              <a:t>длины</a:t>
            </a:r>
            <a:r>
              <a:rPr dirty="0" sz="2200" spc="-25">
                <a:solidFill>
                  <a:srgbClr val="B6B6B6"/>
                </a:solidFill>
                <a:latin typeface="Arial"/>
                <a:cs typeface="Arial"/>
              </a:rPr>
              <a:t> </a:t>
            </a:r>
            <a:r>
              <a:rPr dirty="0" sz="2200" spc="-160">
                <a:solidFill>
                  <a:srgbClr val="AFAFAF"/>
                </a:solidFill>
                <a:latin typeface="Arial"/>
                <a:cs typeface="Arial"/>
              </a:rPr>
              <a:t>оказалось</a:t>
            </a:r>
            <a:r>
              <a:rPr dirty="0" sz="2200" spc="-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200" spc="-195">
                <a:solidFill>
                  <a:srgbClr val="ACACAC"/>
                </a:solidFill>
                <a:latin typeface="Arial"/>
                <a:cs typeface="Arial"/>
              </a:rPr>
              <a:t>на</a:t>
            </a:r>
            <a:r>
              <a:rPr dirty="0" sz="2200" spc="-95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2200" spc="-195">
                <a:solidFill>
                  <a:srgbClr val="AFAFAF"/>
                </a:solidFill>
                <a:latin typeface="Arial"/>
                <a:cs typeface="Arial"/>
              </a:rPr>
              <a:t>четыре</a:t>
            </a:r>
            <a:r>
              <a:rPr dirty="0" sz="2200" spc="10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200" spc="-190">
                <a:solidFill>
                  <a:srgbClr val="AAAAAA"/>
                </a:solidFill>
                <a:latin typeface="Arial"/>
                <a:cs typeface="Arial"/>
              </a:rPr>
              <a:t>баита</a:t>
            </a:r>
            <a:r>
              <a:rPr dirty="0" sz="2200" spc="-6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2200" spc="-110">
                <a:solidFill>
                  <a:srgbClr val="AAAAAA"/>
                </a:solidFill>
                <a:latin typeface="Arial"/>
                <a:cs typeface="Arial"/>
              </a:rPr>
              <a:t>позже</a:t>
            </a:r>
            <a:r>
              <a:rPr dirty="0" sz="2200" spc="85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2200" spc="-204">
                <a:solidFill>
                  <a:srgbClr val="A3A3A3"/>
                </a:solidFill>
                <a:latin typeface="Arial"/>
                <a:cs typeface="Arial"/>
              </a:rPr>
              <a:t>чем</a:t>
            </a:r>
            <a:r>
              <a:rPr dirty="0" sz="2200" spc="-114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dirty="0" sz="2200" spc="-180">
                <a:solidFill>
                  <a:srgbClr val="B1B1B1"/>
                </a:solidFill>
                <a:latin typeface="Arial"/>
                <a:cs typeface="Arial"/>
              </a:rPr>
              <a:t>мьi</a:t>
            </a:r>
            <a:r>
              <a:rPr dirty="0" sz="2200" spc="-120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2200" spc="-114">
                <a:solidFill>
                  <a:srgbClr val="B1B1B1"/>
                </a:solidFill>
                <a:latin typeface="Arial"/>
                <a:cs typeface="Arial"/>
              </a:rPr>
              <a:t>считали</a:t>
            </a:r>
            <a:r>
              <a:rPr dirty="0" sz="2200" spc="250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2200" spc="-195">
                <a:solidFill>
                  <a:srgbClr val="AEAEAE"/>
                </a:solidFill>
                <a:latin typeface="Arial"/>
                <a:cs typeface="Arial"/>
              </a:rPr>
              <a:t>одно</a:t>
            </a:r>
            <a:r>
              <a:rPr dirty="0" sz="2200" spc="-95">
                <a:solidFill>
                  <a:srgbClr val="AEAEAE"/>
                </a:solidFill>
                <a:latin typeface="Arial"/>
                <a:cs typeface="Arial"/>
              </a:rPr>
              <a:t> </a:t>
            </a:r>
            <a:r>
              <a:rPr dirty="0" sz="2200" spc="-105">
                <a:solidFill>
                  <a:srgbClr val="B1B1B1"/>
                </a:solidFill>
                <a:latin typeface="Arial"/>
                <a:cs typeface="Arial"/>
              </a:rPr>
              <a:t>пpaвигіo</a:t>
            </a:r>
            <a:r>
              <a:rPr dirty="0" sz="2200" spc="370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2200" spc="-195">
                <a:solidFill>
                  <a:srgbClr val="AAAAAA"/>
                </a:solidFill>
                <a:latin typeface="Arial"/>
                <a:cs typeface="Arial"/>
              </a:rPr>
              <a:t>два</a:t>
            </a:r>
            <a:r>
              <a:rPr dirty="0" sz="2200" spc="-6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2200" spc="-114">
                <a:solidFill>
                  <a:srgbClr val="B5B5B5"/>
                </a:solidFill>
                <a:latin typeface="Arial"/>
                <a:cs typeface="Arial"/>
              </a:rPr>
              <a:t>чтения</a:t>
            </a:r>
            <a:r>
              <a:rPr dirty="0" sz="2200" spc="340">
                <a:solidFill>
                  <a:srgbClr val="B5B5B5"/>
                </a:solidFill>
                <a:latin typeface="Arial"/>
                <a:cs typeface="Arial"/>
              </a:rPr>
              <a:t> </a:t>
            </a:r>
            <a:r>
              <a:rPr dirty="0" sz="2200" spc="-185">
                <a:solidFill>
                  <a:srgbClr val="AEAEAE"/>
                </a:solidFill>
                <a:latin typeface="Arial"/>
                <a:cs typeface="Arial"/>
              </a:rPr>
              <a:t>поле</a:t>
            </a:r>
            <a:r>
              <a:rPr dirty="0" sz="2200" spc="-90">
                <a:solidFill>
                  <a:srgbClr val="AEAEAE"/>
                </a:solidFill>
                <a:latin typeface="Arial"/>
                <a:cs typeface="Arial"/>
              </a:rPr>
              <a:t> </a:t>
            </a:r>
            <a:r>
              <a:rPr dirty="0" sz="2200" spc="-185">
                <a:solidFill>
                  <a:srgbClr val="AEAEAE"/>
                </a:solidFill>
                <a:latin typeface="Arial"/>
                <a:cs typeface="Arial"/>
              </a:rPr>
              <a:t>длины</a:t>
            </a:r>
            <a:r>
              <a:rPr dirty="0" sz="2200" spc="-85">
                <a:solidFill>
                  <a:srgbClr val="AEAEAE"/>
                </a:solidFill>
                <a:latin typeface="Arial"/>
                <a:cs typeface="Arial"/>
              </a:rPr>
              <a:t> </a:t>
            </a:r>
            <a:r>
              <a:rPr dirty="0" sz="2200" spc="-160">
                <a:solidFill>
                  <a:srgbClr val="AFAFAF"/>
                </a:solidFill>
                <a:latin typeface="Arial"/>
                <a:cs typeface="Arial"/>
              </a:rPr>
              <a:t>остаётся</a:t>
            </a:r>
            <a:r>
              <a:rPr dirty="0" sz="2200" spc="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200" spc="-229">
                <a:solidFill>
                  <a:srgbClr val="A8A8A8"/>
                </a:solidFill>
                <a:latin typeface="Arial"/>
                <a:cs typeface="Arial"/>
              </a:rPr>
              <a:t>на</a:t>
            </a:r>
            <a:r>
              <a:rPr dirty="0" sz="2200" spc="-85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2200">
                <a:solidFill>
                  <a:srgbClr val="CD932A"/>
                </a:solidFill>
                <a:latin typeface="Arial"/>
                <a:cs typeface="Arial"/>
              </a:rPr>
              <a:t>:'</a:t>
            </a:r>
            <a:r>
              <a:rPr dirty="0" sz="2200" spc="-70">
                <a:solidFill>
                  <a:srgbClr val="CD932A"/>
                </a:solidFill>
                <a:latin typeface="Arial"/>
                <a:cs typeface="Arial"/>
              </a:rPr>
              <a:t> </a:t>
            </a:r>
            <a:r>
              <a:rPr dirty="0" sz="2200" spc="-215">
                <a:solidFill>
                  <a:srgbClr val="3B1600"/>
                </a:solidFill>
                <a:latin typeface="Arial"/>
                <a:cs typeface="Arial"/>
              </a:rPr>
              <a:t>-</a:t>
            </a:r>
            <a:r>
              <a:rPr dirty="0" sz="2200">
                <a:solidFill>
                  <a:srgbClr val="573608"/>
                </a:solidFill>
                <a:latin typeface="Arial"/>
                <a:cs typeface="Arial"/>
              </a:rPr>
              <a:t>'</a:t>
            </a:r>
            <a:r>
              <a:rPr dirty="0" sz="2200" spc="5">
                <a:solidFill>
                  <a:srgbClr val="573608"/>
                </a:solidFill>
                <a:latin typeface="Arial"/>
                <a:cs typeface="Arial"/>
              </a:rPr>
              <a:t>  </a:t>
            </a:r>
            <a:r>
              <a:rPr dirty="0" sz="2200" spc="-465">
                <a:solidFill>
                  <a:srgbClr val="74480A"/>
                </a:solidFill>
                <a:latin typeface="Arial"/>
                <a:cs typeface="Arial"/>
              </a:rPr>
              <a:t>!s</a:t>
            </a:r>
            <a:r>
              <a:rPr dirty="0" sz="2200">
                <a:solidFill>
                  <a:srgbClr val="74480A"/>
                </a:solidFill>
                <a:latin typeface="Arial"/>
                <a:cs typeface="Arial"/>
              </a:rPr>
              <a:t>	</a:t>
            </a:r>
            <a:r>
              <a:rPr dirty="0" sz="2200" spc="-430">
                <a:solidFill>
                  <a:srgbClr val="643F34"/>
                </a:solidFill>
                <a:latin typeface="Arial"/>
                <a:cs typeface="Arial"/>
              </a:rPr>
              <a:t>т.</a:t>
            </a:r>
            <a:endParaRPr sz="2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0"/>
              </a:spcBef>
            </a:pPr>
            <a:endParaRPr sz="2200">
              <a:latin typeface="Arial"/>
              <a:cs typeface="Arial"/>
            </a:endParaRPr>
          </a:p>
          <a:p>
            <a:pPr marL="5045075">
              <a:lnSpc>
                <a:spcPct val="100000"/>
              </a:lnSpc>
              <a:tabLst>
                <a:tab pos="8060690" algn="l"/>
                <a:tab pos="8815705" algn="l"/>
                <a:tab pos="9568815" algn="l"/>
              </a:tabLst>
            </a:pPr>
            <a:r>
              <a:rPr dirty="0" baseline="1028" sz="4050" spc="-1139">
                <a:solidFill>
                  <a:srgbClr val="B1937C"/>
                </a:solidFill>
                <a:latin typeface="Consolas"/>
                <a:cs typeface="Consolas"/>
              </a:rPr>
              <a:t>00</a:t>
            </a:r>
            <a:r>
              <a:rPr dirty="0" baseline="1028" sz="4050">
                <a:solidFill>
                  <a:srgbClr val="B1937C"/>
                </a:solidFill>
                <a:latin typeface="Consolas"/>
                <a:cs typeface="Consolas"/>
              </a:rPr>
              <a:t>	</a:t>
            </a:r>
            <a:r>
              <a:rPr dirty="0" baseline="1028" sz="4050" spc="-1155">
                <a:solidFill>
                  <a:srgbClr val="B1937C"/>
                </a:solidFill>
                <a:latin typeface="Consolas"/>
                <a:cs typeface="Consolas"/>
              </a:rPr>
              <a:t>00</a:t>
            </a:r>
            <a:r>
              <a:rPr dirty="0" baseline="1028" sz="4050">
                <a:solidFill>
                  <a:srgbClr val="B1937C"/>
                </a:solidFill>
                <a:latin typeface="Consolas"/>
                <a:cs typeface="Consolas"/>
              </a:rPr>
              <a:t>	</a:t>
            </a:r>
            <a:r>
              <a:rPr dirty="0" sz="255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dirty="0" sz="2550" spc="-1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550" spc="-5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dirty="0" sz="255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dirty="0" baseline="1028" sz="4050">
                <a:solidFill>
                  <a:srgbClr val="FFFFFF"/>
                </a:solidFill>
                <a:latin typeface="Consolas"/>
                <a:cs typeface="Consolas"/>
              </a:rPr>
              <a:t>02</a:t>
            </a:r>
            <a:r>
              <a:rPr dirty="0" baseline="1028" sz="4050" spc="-37">
                <a:solidFill>
                  <a:srgbClr val="FFFFFF"/>
                </a:solidFill>
                <a:latin typeface="Consolas"/>
                <a:cs typeface="Consolas"/>
              </a:rPr>
              <a:t>  </a:t>
            </a:r>
            <a:r>
              <a:rPr dirty="0" baseline="1028" sz="4050">
                <a:solidFill>
                  <a:srgbClr val="B1937C"/>
                </a:solidFill>
                <a:latin typeface="Consolas"/>
                <a:cs typeface="Consolas"/>
              </a:rPr>
              <a:t>00</a:t>
            </a:r>
            <a:r>
              <a:rPr dirty="0" baseline="1028" sz="4050" spc="-30">
                <a:solidFill>
                  <a:srgbClr val="B1937C"/>
                </a:solidFill>
                <a:latin typeface="Consolas"/>
                <a:cs typeface="Consolas"/>
              </a:rPr>
              <a:t>  </a:t>
            </a:r>
            <a:r>
              <a:rPr dirty="0" baseline="1028" sz="4050" spc="-37">
                <a:solidFill>
                  <a:srgbClr val="B1937C"/>
                </a:solidFill>
                <a:latin typeface="Consolas"/>
                <a:cs typeface="Consolas"/>
              </a:rPr>
              <a:t>00</a:t>
            </a:r>
            <a:endParaRPr baseline="1028" sz="4050">
              <a:latin typeface="Consolas"/>
              <a:cs typeface="Consolas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7748150" y="6863665"/>
            <a:ext cx="204470" cy="220345"/>
            <a:chOff x="17748150" y="6863665"/>
            <a:chExt cx="204470" cy="220345"/>
          </a:xfrm>
        </p:grpSpPr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748150" y="6863665"/>
              <a:ext cx="204182" cy="219888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7748150" y="6863665"/>
              <a:ext cx="204182" cy="21988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910967"/>
            <a:ext cx="20080605" cy="180975"/>
          </a:xfrm>
          <a:custGeom>
            <a:avLst/>
            <a:gdLst/>
            <a:ahLst/>
            <a:cxnLst/>
            <a:rect l="l" t="t" r="r" b="b"/>
            <a:pathLst>
              <a:path w="20080605" h="180975">
                <a:moveTo>
                  <a:pt x="20080541" y="180622"/>
                </a:moveTo>
                <a:lnTo>
                  <a:pt x="0" y="180622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80622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59848" y="834132"/>
            <a:ext cx="1607820" cy="3003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495">
                <a:solidFill>
                  <a:srgbClr val="A8A8A8"/>
                </a:solidFill>
                <a:latin typeface="Arial"/>
                <a:cs typeface="Arial"/>
              </a:rPr>
              <a:t>A</a:t>
            </a:r>
            <a:r>
              <a:rPr dirty="0" sz="1800" spc="-180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1800" spc="-325">
                <a:solidFill>
                  <a:srgbClr val="4B5966"/>
                </a:solidFill>
                <a:latin typeface="Arial"/>
                <a:cs typeface="Arial"/>
              </a:rPr>
              <a:t>P</a:t>
            </a:r>
            <a:r>
              <a:rPr dirty="0" sz="1800" spc="-75">
                <a:solidFill>
                  <a:srgbClr val="4B5966"/>
                </a:solidFill>
                <a:latin typeface="Arial"/>
                <a:cs typeface="Arial"/>
              </a:rPr>
              <a:t> </a:t>
            </a:r>
            <a:r>
              <a:rPr dirty="0" sz="1800" spc="-470">
                <a:solidFill>
                  <a:srgbClr val="919EA8"/>
                </a:solidFill>
                <a:latin typeface="Arial"/>
                <a:cs typeface="Arial"/>
              </a:rPr>
              <a:t>X</a:t>
            </a:r>
            <a:r>
              <a:rPr dirty="0" sz="1800" spc="-220">
                <a:solidFill>
                  <a:srgbClr val="919EA8"/>
                </a:solidFill>
                <a:latin typeface="Arial"/>
                <a:cs typeface="Arial"/>
              </a:rPr>
              <a:t> </a:t>
            </a:r>
            <a:r>
              <a:rPr dirty="0" sz="1800" spc="-355">
                <a:solidFill>
                  <a:srgbClr val="8597A5"/>
                </a:solidFill>
                <a:latin typeface="Arial"/>
                <a:cs typeface="Arial"/>
              </a:rPr>
              <a:t>I4</a:t>
            </a:r>
            <a:r>
              <a:rPr dirty="0" sz="1800" spc="5">
                <a:solidFill>
                  <a:srgbClr val="8597A5"/>
                </a:solidFill>
                <a:latin typeface="Arial"/>
                <a:cs typeface="Arial"/>
              </a:rPr>
              <a:t> </a:t>
            </a:r>
            <a:r>
              <a:rPr dirty="0" sz="1800" spc="-320">
                <a:solidFill>
                  <a:srgbClr val="97A3B5"/>
                </a:solidFill>
                <a:latin typeface="Arial"/>
                <a:cs typeface="Arial"/>
              </a:rPr>
              <a:t>T</a:t>
            </a:r>
            <a:r>
              <a:rPr dirty="0" sz="1800" spc="-150">
                <a:solidFill>
                  <a:srgbClr val="97A3B5"/>
                </a:solidFill>
                <a:latin typeface="Arial"/>
                <a:cs typeface="Arial"/>
              </a:rPr>
              <a:t> </a:t>
            </a:r>
            <a:r>
              <a:rPr dirty="0" sz="1800" spc="-459">
                <a:solidFill>
                  <a:srgbClr val="A3A3A3"/>
                </a:solidFill>
                <a:latin typeface="Arial"/>
                <a:cs typeface="Arial"/>
              </a:rPr>
              <a:t>E</a:t>
            </a:r>
            <a:r>
              <a:rPr dirty="0" sz="1800" spc="-125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dirty="0" sz="1800" spc="-385">
                <a:solidFill>
                  <a:srgbClr val="A5A5A5"/>
                </a:solidFill>
                <a:latin typeface="Arial"/>
                <a:cs typeface="Arial"/>
              </a:rPr>
              <a:t>K</a:t>
            </a:r>
            <a:r>
              <a:rPr dirty="0" sz="1800" spc="-50">
                <a:solidFill>
                  <a:srgbClr val="A5A5A5"/>
                </a:solidFill>
                <a:latin typeface="Arial"/>
                <a:cs typeface="Arial"/>
              </a:rPr>
              <a:t> </a:t>
            </a:r>
            <a:r>
              <a:rPr dirty="0" sz="1800" spc="-320">
                <a:solidFill>
                  <a:srgbClr val="9AA3B1"/>
                </a:solidFill>
                <a:latin typeface="Arial"/>
                <a:cs typeface="Arial"/>
              </a:rPr>
              <a:t>T</a:t>
            </a:r>
            <a:r>
              <a:rPr dirty="0" sz="1800" spc="-75">
                <a:solidFill>
                  <a:srgbClr val="9AA3B1"/>
                </a:solidFill>
                <a:latin typeface="Arial"/>
                <a:cs typeface="Arial"/>
              </a:rPr>
              <a:t> </a:t>
            </a:r>
            <a:r>
              <a:rPr dirty="0" sz="1800" spc="-470">
                <a:solidFill>
                  <a:srgbClr val="9AA3B3"/>
                </a:solidFill>
                <a:latin typeface="Arial"/>
                <a:cs typeface="Arial"/>
              </a:rPr>
              <a:t>Y</a:t>
            </a:r>
            <a:r>
              <a:rPr dirty="0" sz="1800" spc="-195">
                <a:solidFill>
                  <a:srgbClr val="9AA3B3"/>
                </a:solidFill>
                <a:latin typeface="Arial"/>
                <a:cs typeface="Arial"/>
              </a:rPr>
              <a:t> </a:t>
            </a:r>
            <a:r>
              <a:rPr dirty="0" sz="1800" spc="-325">
                <a:solidFill>
                  <a:srgbClr val="93A3B3"/>
                </a:solidFill>
                <a:latin typeface="Arial"/>
                <a:cs typeface="Arial"/>
              </a:rPr>
              <a:t>P</a:t>
            </a:r>
            <a:r>
              <a:rPr dirty="0" sz="1800" spc="-60">
                <a:solidFill>
                  <a:srgbClr val="93A3B3"/>
                </a:solidFill>
                <a:latin typeface="Arial"/>
                <a:cs typeface="Arial"/>
              </a:rPr>
              <a:t> </a:t>
            </a:r>
            <a:r>
              <a:rPr dirty="0" sz="1800" spc="-545">
                <a:solidFill>
                  <a:srgbClr val="A5A5A5"/>
                </a:solidFill>
                <a:latin typeface="Arial"/>
                <a:cs typeface="Arial"/>
              </a:rPr>
              <a:t>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5706" y="1287918"/>
            <a:ext cx="20080605" cy="558165"/>
          </a:xfrm>
          <a:custGeom>
            <a:avLst/>
            <a:gdLst/>
            <a:ahLst/>
            <a:cxnLst/>
            <a:rect l="l" t="t" r="r" b="b"/>
            <a:pathLst>
              <a:path w="20080605" h="558164">
                <a:moveTo>
                  <a:pt x="20080541" y="557574"/>
                </a:moveTo>
                <a:lnTo>
                  <a:pt x="0" y="55757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57574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05"/>
              </a:spcBef>
            </a:pPr>
            <a:r>
              <a:rPr dirty="0" spc="-10"/>
              <a:t>Три</a:t>
            </a:r>
            <a:r>
              <a:rPr dirty="0" spc="-430"/>
              <a:t> </a:t>
            </a:r>
            <a:r>
              <a:rPr dirty="0" spc="70"/>
              <a:t>модуля</a:t>
            </a:r>
            <a:r>
              <a:rPr dirty="0" spc="-290"/>
              <a:t> </a:t>
            </a:r>
            <a:r>
              <a:rPr dirty="0" spc="114"/>
              <a:t>связаны</a:t>
            </a:r>
            <a:r>
              <a:rPr dirty="0" spc="-220"/>
              <a:t> </a:t>
            </a:r>
            <a:r>
              <a:rPr dirty="0"/>
              <a:t>форматами,</a:t>
            </a:r>
            <a:r>
              <a:rPr dirty="0" spc="-55"/>
              <a:t> </a:t>
            </a:r>
            <a:r>
              <a:rPr dirty="0" spc="-25"/>
              <a:t>а</a:t>
            </a:r>
            <a:r>
              <a:rPr dirty="0" spc="-520"/>
              <a:t> </a:t>
            </a:r>
            <a:r>
              <a:rPr dirty="0" spc="-35"/>
              <a:t>не</a:t>
            </a:r>
            <a:r>
              <a:rPr dirty="0" spc="-365"/>
              <a:t> </a:t>
            </a:r>
            <a:r>
              <a:rPr dirty="0" spc="110"/>
              <a:t>вызовами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15706" y="5026025"/>
            <a:ext cx="20080605" cy="400685"/>
            <a:chOff x="15706" y="5026025"/>
            <a:chExt cx="20080605" cy="40068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287553" y="5175235"/>
              <a:ext cx="463336" cy="14921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5706" y="5026025"/>
              <a:ext cx="20080605" cy="400685"/>
            </a:xfrm>
            <a:custGeom>
              <a:avLst/>
              <a:gdLst/>
              <a:ahLst/>
              <a:cxnLst/>
              <a:rect l="l" t="t" r="r" b="b"/>
              <a:pathLst>
                <a:path w="20080605" h="400685">
                  <a:moveTo>
                    <a:pt x="20080541" y="400511"/>
                  </a:moveTo>
                  <a:lnTo>
                    <a:pt x="0" y="400511"/>
                  </a:lnTo>
                  <a:lnTo>
                    <a:pt x="0" y="0"/>
                  </a:lnTo>
                  <a:lnTo>
                    <a:pt x="20080541" y="0"/>
                  </a:lnTo>
                  <a:lnTo>
                    <a:pt x="20080541" y="400511"/>
                  </a:lnTo>
                  <a:close/>
                </a:path>
              </a:pathLst>
            </a:custGeom>
            <a:solidFill>
              <a:srgbClr val="1113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1462313" y="4915814"/>
            <a:ext cx="1554480" cy="3594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200" spc="-55">
                <a:solidFill>
                  <a:srgbClr val="B3B3B3"/>
                </a:solidFill>
                <a:latin typeface="Arial"/>
                <a:cs typeface="Arial"/>
              </a:rPr>
              <a:t>ocao/ocaonp</a:t>
            </a:r>
            <a:endParaRPr sz="2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369002" y="4915814"/>
            <a:ext cx="748665" cy="3594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200" spc="-204">
                <a:solidFill>
                  <a:srgbClr val="B6B6B6"/>
                </a:solidFill>
                <a:latin typeface="Arial"/>
                <a:cs typeface="Arial"/>
              </a:rPr>
              <a:t>сессии</a:t>
            </a:r>
            <a:endParaRPr sz="22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5331000" y="4915814"/>
            <a:ext cx="1471930" cy="3594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200" spc="-215">
                <a:solidFill>
                  <a:srgbClr val="B3B3B3"/>
                </a:solidFill>
                <a:latin typeface="Arial"/>
                <a:cs typeface="Arial"/>
              </a:rPr>
              <a:t>окно</a:t>
            </a:r>
            <a:r>
              <a:rPr dirty="0" sz="2200" spc="-130">
                <a:solidFill>
                  <a:srgbClr val="B3B3B3"/>
                </a:solidFill>
                <a:latin typeface="Arial"/>
                <a:cs typeface="Arial"/>
              </a:rPr>
              <a:t> </a:t>
            </a:r>
            <a:r>
              <a:rPr dirty="0" sz="2200" spc="-150">
                <a:solidFill>
                  <a:srgbClr val="ACACAC"/>
                </a:solidFill>
                <a:latin typeface="Arial"/>
                <a:cs typeface="Arial"/>
              </a:rPr>
              <a:t>PySide6</a:t>
            </a:r>
            <a:endParaRPr sz="22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86722" y="5121306"/>
            <a:ext cx="2143760" cy="32004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900" spc="-20">
                <a:solidFill>
                  <a:srgbClr val="B1B1B1"/>
                </a:solidFill>
                <a:latin typeface="Consolas"/>
                <a:cs typeface="Consolas"/>
              </a:rPr>
              <a:t>праеига</a:t>
            </a:r>
            <a:r>
              <a:rPr dirty="0" sz="1900" spc="-204">
                <a:solidFill>
                  <a:srgbClr val="B1B1B1"/>
                </a:solidFill>
                <a:latin typeface="Consolas"/>
                <a:cs typeface="Consolas"/>
              </a:rPr>
              <a:t> </a:t>
            </a:r>
            <a:r>
              <a:rPr dirty="0" sz="1900" spc="-95">
                <a:solidFill>
                  <a:srgbClr val="B1B1B1"/>
                </a:solidFill>
                <a:latin typeface="Consolas"/>
                <a:cs typeface="Consolas"/>
              </a:rPr>
              <a:t>dЬреиминг</a:t>
            </a:r>
            <a:endParaRPr sz="1900">
              <a:latin typeface="Consolas"/>
              <a:cs typeface="Consolas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5706" y="5685690"/>
            <a:ext cx="20088860" cy="361315"/>
            <a:chOff x="15706" y="5685690"/>
            <a:chExt cx="20088860" cy="361315"/>
          </a:xfrm>
        </p:grpSpPr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72723" y="5709250"/>
              <a:ext cx="2379508" cy="164916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614920" y="5740663"/>
              <a:ext cx="9431650" cy="29842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706" y="5685690"/>
              <a:ext cx="20088393" cy="361245"/>
            </a:xfrm>
            <a:prstGeom prst="rect">
              <a:avLst/>
            </a:prstGeom>
          </p:spPr>
        </p:pic>
      </p:grpSp>
      <p:sp>
        <p:nvSpPr>
          <p:cNvPr id="17" name="object 17"/>
          <p:cNvSpPr/>
          <p:nvPr/>
        </p:nvSpPr>
        <p:spPr>
          <a:xfrm>
            <a:off x="15706" y="7570450"/>
            <a:ext cx="20080605" cy="290830"/>
          </a:xfrm>
          <a:custGeom>
            <a:avLst/>
            <a:gdLst/>
            <a:ahLst/>
            <a:cxnLst/>
            <a:rect l="l" t="t" r="r" b="b"/>
            <a:pathLst>
              <a:path w="20080605" h="290829">
                <a:moveTo>
                  <a:pt x="20080541" y="290567"/>
                </a:moveTo>
                <a:lnTo>
                  <a:pt x="0" y="290567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90567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4385481" y="7475291"/>
            <a:ext cx="5744845" cy="3790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2300" spc="-75">
                <a:solidFill>
                  <a:srgbClr val="FFFFFF"/>
                </a:solidFill>
                <a:latin typeface="Arial"/>
                <a:cs typeface="Arial"/>
              </a:rPr>
              <a:t>Контракты</a:t>
            </a:r>
            <a:r>
              <a:rPr dirty="0" sz="23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70">
                <a:solidFill>
                  <a:srgbClr val="FFFFFF"/>
                </a:solidFill>
                <a:latin typeface="Arial"/>
                <a:cs typeface="Arial"/>
              </a:rPr>
              <a:t>межqу</a:t>
            </a:r>
            <a:r>
              <a:rPr dirty="0" sz="2300" spc="-1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100">
                <a:solidFill>
                  <a:srgbClr val="FFFFFF"/>
                </a:solidFill>
                <a:latin typeface="Arial"/>
                <a:cs typeface="Arial"/>
              </a:rPr>
              <a:t>модулями</a:t>
            </a:r>
            <a:r>
              <a:rPr dirty="0" sz="23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50">
                <a:solidFill>
                  <a:srgbClr val="FFFFFF"/>
                </a:solidFill>
                <a:latin typeface="Arial"/>
                <a:cs typeface="Arial"/>
              </a:rPr>
              <a:t>зафиксированы</a:t>
            </a:r>
            <a:endParaRPr sz="23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143110" y="7475291"/>
            <a:ext cx="3564254" cy="3790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2300" spc="-175">
                <a:solidFill>
                  <a:srgbClr val="FFFFFF"/>
                </a:solidFill>
                <a:latin typeface="Arial"/>
                <a:cs typeface="Arial"/>
              </a:rPr>
              <a:t>;</a:t>
            </a:r>
            <a:r>
              <a:rPr dirty="0" sz="2300" spc="-7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85">
                <a:solidFill>
                  <a:srgbClr val="FFFFFF"/>
                </a:solidFill>
                <a:latin typeface="Arial"/>
                <a:cs typeface="Arial"/>
              </a:rPr>
              <a:t>порядок</a:t>
            </a:r>
            <a:r>
              <a:rPr dirty="0" sz="23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95">
                <a:solidFill>
                  <a:srgbClr val="FFFFFF"/>
                </a:solidFill>
                <a:latin typeface="Arial"/>
                <a:cs typeface="Arial"/>
              </a:rPr>
              <a:t>вызовов</a:t>
            </a:r>
            <a:r>
              <a:rPr dirty="0" sz="23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85">
                <a:solidFill>
                  <a:srgbClr val="FFFFFF"/>
                </a:solidFill>
                <a:latin typeface="Arial"/>
                <a:cs typeface="Arial"/>
              </a:rPr>
              <a:t>не</a:t>
            </a:r>
            <a:r>
              <a:rPr dirty="0" sz="2300" spc="-20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20">
                <a:solidFill>
                  <a:srgbClr val="FFFFFF"/>
                </a:solidFill>
                <a:latin typeface="Arial"/>
                <a:cs typeface="Arial"/>
              </a:rPr>
              <a:t>важен</a:t>
            </a:r>
            <a:endParaRPr sz="2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910967"/>
            <a:ext cx="20080605" cy="196850"/>
          </a:xfrm>
          <a:custGeom>
            <a:avLst/>
            <a:gdLst/>
            <a:ahLst/>
            <a:cxnLst/>
            <a:rect l="l" t="t" r="r" b="b"/>
            <a:pathLst>
              <a:path w="20080605" h="196850">
                <a:moveTo>
                  <a:pt x="20080541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96329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41649" y="850493"/>
            <a:ext cx="267525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210">
                <a:solidFill>
                  <a:srgbClr val="B5B5B5"/>
                </a:solidFill>
                <a:latin typeface="Consolas"/>
                <a:cs typeface="Consolas"/>
              </a:rPr>
              <a:t>IOCTAHOBHA</a:t>
            </a:r>
            <a:r>
              <a:rPr dirty="0" sz="1650" spc="-85">
                <a:solidFill>
                  <a:srgbClr val="B5B5B5"/>
                </a:solidFill>
                <a:latin typeface="Consolas"/>
                <a:cs typeface="Consolas"/>
              </a:rPr>
              <a:t>  </a:t>
            </a:r>
            <a:r>
              <a:rPr dirty="0" sz="1650">
                <a:solidFill>
                  <a:srgbClr val="999AB5"/>
                </a:solidFill>
                <a:latin typeface="Consolas"/>
                <a:cs typeface="Consolas"/>
              </a:rPr>
              <a:t>h</a:t>
            </a:r>
            <a:r>
              <a:rPr dirty="0" sz="1650" spc="-140">
                <a:solidFill>
                  <a:srgbClr val="999AB5"/>
                </a:solidFill>
                <a:latin typeface="Consolas"/>
                <a:cs typeface="Consolas"/>
              </a:rPr>
              <a:t>  </a:t>
            </a:r>
            <a:r>
              <a:rPr dirty="0" sz="1650" spc="-135">
                <a:solidFill>
                  <a:srgbClr val="B3B3B3"/>
                </a:solidFill>
                <a:latin typeface="Consolas"/>
                <a:cs typeface="Consolas"/>
              </a:rPr>
              <a:t>M</a:t>
            </a:r>
            <a:r>
              <a:rPr dirty="0" sz="1650" spc="-585">
                <a:solidFill>
                  <a:srgbClr val="B3B3B3"/>
                </a:solidFill>
                <a:latin typeface="Consolas"/>
                <a:cs typeface="Consolas"/>
              </a:rPr>
              <a:t> </a:t>
            </a:r>
            <a:r>
              <a:rPr dirty="0" sz="1650" spc="155">
                <a:solidFill>
                  <a:srgbClr val="A8A8A8"/>
                </a:solidFill>
                <a:latin typeface="Consolas"/>
                <a:cs typeface="Consolas"/>
              </a:rPr>
              <a:t>ETOQ</a:t>
            </a:r>
            <a:endParaRPr sz="1650">
              <a:latin typeface="Consolas"/>
              <a:cs typeface="Consola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5706" y="1287918"/>
            <a:ext cx="20080605" cy="558165"/>
          </a:xfrm>
          <a:custGeom>
            <a:avLst/>
            <a:gdLst/>
            <a:ahLst/>
            <a:cxnLst/>
            <a:rect l="l" t="t" r="r" b="b"/>
            <a:pathLst>
              <a:path w="20080605" h="558164">
                <a:moveTo>
                  <a:pt x="20080541" y="557574"/>
                </a:moveTo>
                <a:lnTo>
                  <a:pt x="0" y="55757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57574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8255">
              <a:lnSpc>
                <a:spcPct val="100000"/>
              </a:lnSpc>
              <a:spcBef>
                <a:spcPts val="105"/>
              </a:spcBef>
            </a:pPr>
            <a:r>
              <a:rPr dirty="0"/>
              <a:t>От</a:t>
            </a:r>
            <a:r>
              <a:rPr dirty="0" spc="-560"/>
              <a:t> </a:t>
            </a:r>
            <a:r>
              <a:rPr dirty="0"/>
              <a:t>интерпретации</a:t>
            </a:r>
            <a:r>
              <a:rPr dirty="0" spc="180"/>
              <a:t> </a:t>
            </a:r>
            <a:r>
              <a:rPr dirty="0" spc="50"/>
              <a:t>можно</a:t>
            </a:r>
            <a:r>
              <a:rPr dirty="0" spc="-240"/>
              <a:t> </a:t>
            </a:r>
            <a:r>
              <a:rPr dirty="0" spc="85"/>
              <a:t>вернуться</a:t>
            </a:r>
            <a:r>
              <a:rPr dirty="0" spc="-95"/>
              <a:t> </a:t>
            </a:r>
            <a:r>
              <a:rPr dirty="0" spc="175"/>
              <a:t>к</a:t>
            </a:r>
            <a:r>
              <a:rPr dirty="0" spc="-540"/>
              <a:t> </a:t>
            </a:r>
            <a:r>
              <a:rPr dirty="0" spc="125"/>
              <a:t>исходным</a:t>
            </a:r>
            <a:r>
              <a:rPr dirty="0" spc="-305"/>
              <a:t> </a:t>
            </a:r>
            <a:r>
              <a:rPr dirty="0" spc="120"/>
              <a:t>данным</a:t>
            </a:r>
          </a:p>
        </p:txBody>
      </p:sp>
      <p:sp>
        <p:nvSpPr>
          <p:cNvPr id="6" name="object 6"/>
          <p:cNvSpPr/>
          <p:nvPr/>
        </p:nvSpPr>
        <p:spPr>
          <a:xfrm>
            <a:off x="15706" y="4476303"/>
            <a:ext cx="20080605" cy="274955"/>
          </a:xfrm>
          <a:custGeom>
            <a:avLst/>
            <a:gdLst/>
            <a:ahLst/>
            <a:cxnLst/>
            <a:rect l="l" t="t" r="r" b="b"/>
            <a:pathLst>
              <a:path w="20080605" h="274954">
                <a:moveTo>
                  <a:pt x="20080541" y="274860"/>
                </a:moveTo>
                <a:lnTo>
                  <a:pt x="0" y="274860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74860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2258072" y="4413866"/>
            <a:ext cx="2745740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>
                <a:solidFill>
                  <a:srgbClr val="FFFFFF"/>
                </a:solidFill>
                <a:latin typeface="Arial"/>
                <a:cs typeface="Arial"/>
              </a:rPr>
              <a:t>МеТараННые</a:t>
            </a:r>
            <a:r>
              <a:rPr dirty="0" sz="2050" spc="-3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dirty="0" sz="2050" spc="50">
                <a:solidFill>
                  <a:srgbClr val="FFFFFF"/>
                </a:solidFill>
                <a:latin typeface="Arial"/>
                <a:cs typeface="Arial"/>
              </a:rPr>
              <a:t>пакеТа</a:t>
            </a:r>
            <a:endParaRPr sz="205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5706" y="5198794"/>
            <a:ext cx="20088860" cy="267335"/>
            <a:chOff x="15706" y="5198794"/>
            <a:chExt cx="20088860" cy="267335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706" y="5198794"/>
              <a:ext cx="20088393" cy="267007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706" y="5198794"/>
              <a:ext cx="20088393" cy="267007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15706" y="6643776"/>
            <a:ext cx="20080605" cy="212090"/>
          </a:xfrm>
          <a:custGeom>
            <a:avLst/>
            <a:gdLst/>
            <a:ahLst/>
            <a:cxnLst/>
            <a:rect l="l" t="t" r="r" b="b"/>
            <a:pathLst>
              <a:path w="20080605" h="212090">
                <a:moveTo>
                  <a:pt x="20080541" y="212035"/>
                </a:moveTo>
                <a:lnTo>
                  <a:pt x="0" y="21203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12035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16366997" y="6565633"/>
            <a:ext cx="2195830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>
                <a:solidFill>
                  <a:srgbClr val="3BAFC1"/>
                </a:solidFill>
                <a:latin typeface="Trebuchet MS"/>
                <a:cs typeface="Trebuchet MS"/>
              </a:rPr>
              <a:t>17</a:t>
            </a:r>
            <a:r>
              <a:rPr dirty="0" sz="2050" spc="-254">
                <a:solidFill>
                  <a:srgbClr val="3BAFC1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C5989"/>
                </a:solidFill>
                <a:latin typeface="Trebuchet MS"/>
                <a:cs typeface="Trebuchet MS"/>
              </a:rPr>
              <a:t>õ</a:t>
            </a:r>
            <a:r>
              <a:rPr dirty="0" sz="2050" spc="-265">
                <a:solidFill>
                  <a:srgbClr val="1C5989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1608A"/>
                </a:solidFill>
                <a:latin typeface="Trebuchet MS"/>
                <a:cs typeface="Trebuchet MS"/>
              </a:rPr>
              <a:t>õ</a:t>
            </a:r>
            <a:r>
              <a:rPr dirty="0" sz="2050" spc="-265">
                <a:solidFill>
                  <a:srgbClr val="11608A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85D82"/>
                </a:solidFill>
                <a:latin typeface="Trebuchet MS"/>
                <a:cs typeface="Trebuchet MS"/>
              </a:rPr>
              <a:t>õ</a:t>
            </a:r>
            <a:r>
              <a:rPr dirty="0" sz="2050" spc="-260">
                <a:solidFill>
                  <a:srgbClr val="185D82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C5B80"/>
                </a:solidFill>
                <a:latin typeface="Trebuchet MS"/>
                <a:cs typeface="Trebuchet MS"/>
              </a:rPr>
              <a:t>õ</a:t>
            </a:r>
            <a:r>
              <a:rPr dirty="0" sz="2050" spc="-265">
                <a:solidFill>
                  <a:srgbClr val="1C5B80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C5989"/>
                </a:solidFill>
                <a:latin typeface="Trebuchet MS"/>
                <a:cs typeface="Trebuchet MS"/>
              </a:rPr>
              <a:t>õ</a:t>
            </a:r>
            <a:r>
              <a:rPr dirty="0" sz="2050" spc="-265">
                <a:solidFill>
                  <a:srgbClr val="1C5989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1608A"/>
                </a:solidFill>
                <a:latin typeface="Trebuchet MS"/>
                <a:cs typeface="Trebuchet MS"/>
              </a:rPr>
              <a:t>õ</a:t>
            </a:r>
            <a:r>
              <a:rPr dirty="0" sz="2050" spc="-265">
                <a:solidFill>
                  <a:srgbClr val="11608A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85D82"/>
                </a:solidFill>
                <a:latin typeface="Trebuchet MS"/>
                <a:cs typeface="Trebuchet MS"/>
              </a:rPr>
              <a:t>õ</a:t>
            </a:r>
            <a:r>
              <a:rPr dirty="0" sz="2050" spc="-260">
                <a:solidFill>
                  <a:srgbClr val="185D82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C5B7E"/>
                </a:solidFill>
                <a:latin typeface="Trebuchet MS"/>
                <a:cs typeface="Trebuchet MS"/>
              </a:rPr>
              <a:t>õ</a:t>
            </a:r>
            <a:r>
              <a:rPr dirty="0" sz="2050" spc="-90">
                <a:solidFill>
                  <a:srgbClr val="1C5B7E"/>
                </a:solidFill>
                <a:latin typeface="Trebuchet MS"/>
                <a:cs typeface="Trebuchet MS"/>
              </a:rPr>
              <a:t> </a:t>
            </a:r>
            <a:r>
              <a:rPr dirty="0" sz="2050" spc="-150">
                <a:solidFill>
                  <a:srgbClr val="489CB8"/>
                </a:solidFill>
                <a:latin typeface="Trebuchet MS"/>
                <a:cs typeface="Trebuchet MS"/>
              </a:rPr>
              <a:t>.</a:t>
            </a:r>
            <a:r>
              <a:rPr dirty="0" sz="2050" spc="-155">
                <a:solidFill>
                  <a:srgbClr val="489CB8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1608A"/>
                </a:solidFill>
                <a:latin typeface="Trebuchet MS"/>
                <a:cs typeface="Trebuchet MS"/>
              </a:rPr>
              <a:t>õ</a:t>
            </a:r>
            <a:r>
              <a:rPr dirty="0" sz="2050" spc="-265">
                <a:solidFill>
                  <a:srgbClr val="11608A"/>
                </a:solidFill>
                <a:latin typeface="Trebuchet MS"/>
                <a:cs typeface="Trebuchet MS"/>
              </a:rPr>
              <a:t> </a:t>
            </a:r>
            <a:r>
              <a:rPr dirty="0" sz="2050" spc="-220">
                <a:solidFill>
                  <a:srgbClr val="1A5D7E"/>
                </a:solidFill>
                <a:latin typeface="Trebuchet MS"/>
                <a:cs typeface="Trebuchet MS"/>
              </a:rPr>
              <a:t>õ </a:t>
            </a:r>
            <a:r>
              <a:rPr dirty="0" sz="2050" spc="-50">
                <a:solidFill>
                  <a:srgbClr val="59B6DB"/>
                </a:solidFill>
                <a:latin typeface="Trebuchet MS"/>
                <a:cs typeface="Trebuchet MS"/>
              </a:rPr>
              <a:t>4</a:t>
            </a:r>
            <a:endParaRPr sz="20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25093" y="895260"/>
            <a:ext cx="157063" cy="219888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1036617" y="0"/>
            <a:ext cx="346075" cy="11293475"/>
            <a:chOff x="1036617" y="0"/>
            <a:chExt cx="346075" cy="11293475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36617" y="1272212"/>
              <a:ext cx="345539" cy="47118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36617" y="0"/>
              <a:ext cx="345539" cy="11292849"/>
            </a:xfrm>
            <a:prstGeom prst="rect">
              <a:avLst/>
            </a:prstGeom>
          </p:spPr>
        </p:pic>
      </p:grpSp>
      <p:grpSp>
        <p:nvGrpSpPr>
          <p:cNvPr id="6" name="object 6"/>
          <p:cNvGrpSpPr/>
          <p:nvPr/>
        </p:nvGrpSpPr>
        <p:grpSpPr>
          <a:xfrm>
            <a:off x="1429275" y="0"/>
            <a:ext cx="1979295" cy="11285220"/>
            <a:chOff x="1429275" y="0"/>
            <a:chExt cx="1979295" cy="11285220"/>
          </a:xfrm>
        </p:grpSpPr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29275" y="934526"/>
              <a:ext cx="1978997" cy="14921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429275" y="0"/>
              <a:ext cx="1971675" cy="11285220"/>
            </a:xfrm>
            <a:custGeom>
              <a:avLst/>
              <a:gdLst/>
              <a:ahLst/>
              <a:cxnLst/>
              <a:rect l="l" t="t" r="r" b="b"/>
              <a:pathLst>
                <a:path w="1971675" h="11285220">
                  <a:moveTo>
                    <a:pt x="1971144" y="11284997"/>
                  </a:moveTo>
                  <a:lnTo>
                    <a:pt x="0" y="11284997"/>
                  </a:lnTo>
                  <a:lnTo>
                    <a:pt x="0" y="0"/>
                  </a:lnTo>
                  <a:lnTo>
                    <a:pt x="1971144" y="0"/>
                  </a:lnTo>
                  <a:lnTo>
                    <a:pt x="1971144" y="11284997"/>
                  </a:lnTo>
                  <a:close/>
                </a:path>
              </a:pathLst>
            </a:custGeom>
            <a:solidFill>
              <a:srgbClr val="1111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1410032" y="5201146"/>
            <a:ext cx="125793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1002030" algn="l"/>
              </a:tabLst>
            </a:pPr>
            <a:r>
              <a:rPr dirty="0" sz="1650" spc="135">
                <a:solidFill>
                  <a:srgbClr val="B3B3B3"/>
                </a:solidFill>
                <a:latin typeface="Arial"/>
                <a:cs typeface="Arial"/>
              </a:rPr>
              <a:t>session</a:t>
            </a:r>
            <a:r>
              <a:rPr dirty="0" sz="1650">
                <a:solidFill>
                  <a:srgbClr val="B3B3B3"/>
                </a:solidFill>
                <a:latin typeface="Arial"/>
                <a:cs typeface="Arial"/>
              </a:rPr>
              <a:t>	</a:t>
            </a:r>
            <a:r>
              <a:rPr dirty="0" sz="1650" spc="45">
                <a:solidFill>
                  <a:srgbClr val="B1B1B1"/>
                </a:solidFill>
                <a:latin typeface="Arial"/>
                <a:cs typeface="Arial"/>
              </a:rPr>
              <a:t>s2</a:t>
            </a:r>
            <a:endParaRPr sz="165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18217" y="0"/>
            <a:ext cx="3448050" cy="11285220"/>
          </a:xfrm>
          <a:custGeom>
            <a:avLst/>
            <a:gdLst/>
            <a:ahLst/>
            <a:cxnLst/>
            <a:rect l="l" t="t" r="r" b="b"/>
            <a:pathLst>
              <a:path w="3448050" h="11285220">
                <a:moveTo>
                  <a:pt x="3447539" y="11284997"/>
                </a:moveTo>
                <a:lnTo>
                  <a:pt x="0" y="11284997"/>
                </a:lnTo>
                <a:lnTo>
                  <a:pt x="0" y="0"/>
                </a:lnTo>
                <a:lnTo>
                  <a:pt x="3447539" y="0"/>
                </a:lnTo>
                <a:lnTo>
                  <a:pt x="3447539" y="11284997"/>
                </a:lnTo>
                <a:close/>
              </a:path>
            </a:pathLst>
          </a:custGeom>
          <a:solidFill>
            <a:srgbClr val="1111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3496584" y="850493"/>
            <a:ext cx="40068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30">
                <a:solidFill>
                  <a:srgbClr val="AAAAAA"/>
                </a:solidFill>
                <a:latin typeface="Consolas"/>
                <a:cs typeface="Consolas"/>
              </a:rPr>
              <a:t>ТОД</a:t>
            </a:r>
            <a:endParaRPr sz="1650">
              <a:latin typeface="Consolas"/>
              <a:cs typeface="Consolas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391298" y="1077581"/>
            <a:ext cx="5558155" cy="771525"/>
          </a:xfrm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4900" spc="-175"/>
              <a:t>равило</a:t>
            </a:r>
            <a:r>
              <a:rPr dirty="0" sz="4900" spc="-380"/>
              <a:t> </a:t>
            </a:r>
            <a:r>
              <a:rPr dirty="0" sz="4350" spc="100"/>
              <a:t>проверяется</a:t>
            </a:r>
            <a:endParaRPr sz="4350"/>
          </a:p>
        </p:txBody>
      </p:sp>
      <p:sp>
        <p:nvSpPr>
          <p:cNvPr id="13" name="object 13"/>
          <p:cNvSpPr txBox="1"/>
          <p:nvPr/>
        </p:nvSpPr>
        <p:spPr>
          <a:xfrm>
            <a:off x="2803120" y="5184785"/>
            <a:ext cx="3876040" cy="3003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43840" indent="-231140">
              <a:lnSpc>
                <a:spcPct val="100000"/>
              </a:lnSpc>
              <a:spcBef>
                <a:spcPts val="100"/>
              </a:spcBef>
              <a:buClr>
                <a:srgbClr val="B1B1B1"/>
              </a:buClr>
              <a:buChar char="•"/>
              <a:tabLst>
                <a:tab pos="243840" algn="l"/>
                <a:tab pos="746125" algn="l"/>
              </a:tabLst>
            </a:pPr>
            <a:r>
              <a:rPr dirty="0" sz="1650" spc="35">
                <a:solidFill>
                  <a:srgbClr val="A8A8A8"/>
                </a:solidFill>
                <a:latin typeface="Arial"/>
                <a:cs typeface="Arial"/>
              </a:rPr>
              <a:t>A_t</a:t>
            </a:r>
            <a:r>
              <a:rPr dirty="0" sz="1650">
                <a:solidFill>
                  <a:srgbClr val="A8A8A8"/>
                </a:solidFill>
                <a:latin typeface="Arial"/>
                <a:cs typeface="Arial"/>
              </a:rPr>
              <a:t>	</a:t>
            </a:r>
            <a:r>
              <a:rPr dirty="0" sz="1800">
                <a:solidFill>
                  <a:srgbClr val="5E6E7C"/>
                </a:solidFill>
                <a:latin typeface="Consolas"/>
                <a:cs typeface="Consolas"/>
              </a:rPr>
              <a:t>_В</a:t>
            </a:r>
            <a:r>
              <a:rPr dirty="0" sz="1800">
                <a:solidFill>
                  <a:srgbClr val="B1B1B1"/>
                </a:solidFill>
                <a:latin typeface="Consolas"/>
                <a:cs typeface="Consolas"/>
              </a:rPr>
              <a:t>.</a:t>
            </a:r>
            <a:r>
              <a:rPr dirty="0" sz="1800" spc="25">
                <a:solidFill>
                  <a:srgbClr val="B1B1B1"/>
                </a:solidFill>
                <a:latin typeface="Consolas"/>
                <a:cs typeface="Consolas"/>
              </a:rPr>
              <a:t>  </a:t>
            </a:r>
            <a:r>
              <a:rPr dirty="0" sz="1800">
                <a:solidFill>
                  <a:srgbClr val="B3B3B3"/>
                </a:solidFill>
                <a:latin typeface="Consolas"/>
                <a:cs typeface="Consolas"/>
              </a:rPr>
              <a:t>Counterexamples</a:t>
            </a:r>
            <a:r>
              <a:rPr dirty="0" sz="1800" spc="-229">
                <a:solidFill>
                  <a:srgbClr val="B3B3B3"/>
                </a:solidFill>
                <a:latin typeface="Consolas"/>
                <a:cs typeface="Consolas"/>
              </a:rPr>
              <a:t> </a:t>
            </a:r>
            <a:r>
              <a:rPr dirty="0" sz="1800" spc="-20">
                <a:solidFill>
                  <a:srgbClr val="A3A3A3"/>
                </a:solidFill>
                <a:latin typeface="Consolas"/>
                <a:cs typeface="Consolas"/>
              </a:rPr>
              <a:t>(60)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911703" y="5553884"/>
            <a:ext cx="622935" cy="18319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just" marL="12700" marR="5080">
              <a:lnSpc>
                <a:spcPct val="131700"/>
              </a:lnSpc>
              <a:spcBef>
                <a:spcPts val="100"/>
              </a:spcBef>
            </a:pPr>
            <a:r>
              <a:rPr dirty="0" sz="1800" spc="-60">
                <a:solidFill>
                  <a:srgbClr val="CDCDCD"/>
                </a:solidFill>
                <a:latin typeface="Consolas"/>
                <a:cs typeface="Consolas"/>
              </a:rPr>
              <a:t>value </a:t>
            </a:r>
            <a:r>
              <a:rPr dirty="0" sz="1800" spc="-60">
                <a:solidFill>
                  <a:srgbClr val="260000"/>
                </a:solidFill>
                <a:latin typeface="Consolas"/>
                <a:cs typeface="Consolas"/>
              </a:rPr>
              <a:t>value </a:t>
            </a:r>
            <a:r>
              <a:rPr dirty="0" sz="1800" spc="-60">
                <a:solidFill>
                  <a:srgbClr val="1F0505"/>
                </a:solidFill>
                <a:latin typeface="Consolas"/>
                <a:cs typeface="Consolas"/>
              </a:rPr>
              <a:t>value </a:t>
            </a:r>
            <a:r>
              <a:rPr dirty="0" sz="1800" spc="-60">
                <a:solidFill>
                  <a:srgbClr val="B1747E"/>
                </a:solidFill>
                <a:latin typeface="Consolas"/>
                <a:cs typeface="Consolas"/>
              </a:rPr>
              <a:t>value </a:t>
            </a:r>
            <a:r>
              <a:rPr dirty="0" sz="1800" spc="-60">
                <a:solidFill>
                  <a:srgbClr val="BA7989"/>
                </a:solidFill>
                <a:latin typeface="Consolas"/>
                <a:cs typeface="Consolas"/>
              </a:rPr>
              <a:t>value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656549" y="5553884"/>
            <a:ext cx="638175" cy="1831975"/>
          </a:xfrm>
          <a:prstGeom prst="rect">
            <a:avLst/>
          </a:prstGeom>
        </p:spPr>
        <p:txBody>
          <a:bodyPr wrap="square" lIns="0" tIns="990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80"/>
              </a:spcBef>
            </a:pPr>
            <a:r>
              <a:rPr dirty="0" sz="1800">
                <a:solidFill>
                  <a:srgbClr val="BA7780"/>
                </a:solidFill>
                <a:latin typeface="Consolas"/>
                <a:cs typeface="Consolas"/>
              </a:rPr>
              <a:t>2</a:t>
            </a:r>
            <a:r>
              <a:rPr dirty="0" sz="1800" spc="45">
                <a:solidFill>
                  <a:srgbClr val="BA7780"/>
                </a:solidFill>
                <a:latin typeface="Consolas"/>
                <a:cs typeface="Consolas"/>
              </a:rPr>
              <a:t> </a:t>
            </a:r>
            <a:r>
              <a:rPr dirty="0" sz="1800" spc="-45">
                <a:solidFill>
                  <a:srgbClr val="33030A"/>
                </a:solidFill>
                <a:latin typeface="Consolas"/>
                <a:cs typeface="Consolas"/>
              </a:rPr>
              <a:t>not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dirty="0" sz="1800">
                <a:solidFill>
                  <a:srgbClr val="B37775"/>
                </a:solidFill>
                <a:latin typeface="Consolas"/>
                <a:cs typeface="Consolas"/>
              </a:rPr>
              <a:t>2</a:t>
            </a:r>
            <a:r>
              <a:rPr dirty="0" sz="1800" spc="45">
                <a:solidFill>
                  <a:srgbClr val="B37775"/>
                </a:solidFill>
                <a:latin typeface="Consolas"/>
                <a:cs typeface="Consolas"/>
              </a:rPr>
              <a:t> </a:t>
            </a:r>
            <a:r>
              <a:rPr dirty="0" sz="1800" spc="-45">
                <a:solidFill>
                  <a:srgbClr val="2D0008"/>
                </a:solidFill>
                <a:latin typeface="Consolas"/>
                <a:cs typeface="Consolas"/>
              </a:rPr>
              <a:t>not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dirty="0" sz="1800">
                <a:solidFill>
                  <a:srgbClr val="A16B67"/>
                </a:solidFill>
                <a:latin typeface="Consolas"/>
                <a:cs typeface="Consolas"/>
              </a:rPr>
              <a:t>2</a:t>
            </a:r>
            <a:r>
              <a:rPr dirty="0" sz="1800" spc="45">
                <a:solidFill>
                  <a:srgbClr val="A16B67"/>
                </a:solidFill>
                <a:latin typeface="Consolas"/>
                <a:cs typeface="Consolas"/>
              </a:rPr>
              <a:t> </a:t>
            </a:r>
            <a:r>
              <a:rPr dirty="0" sz="1800" spc="-45">
                <a:solidFill>
                  <a:srgbClr val="230007"/>
                </a:solidFill>
                <a:latin typeface="Consolas"/>
                <a:cs typeface="Consolas"/>
              </a:rPr>
              <a:t>not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dirty="0" sz="1800">
                <a:solidFill>
                  <a:srgbClr val="855959"/>
                </a:solidFill>
                <a:latin typeface="Consolas"/>
                <a:cs typeface="Consolas"/>
              </a:rPr>
              <a:t>2</a:t>
            </a:r>
            <a:r>
              <a:rPr dirty="0" sz="1800" spc="45">
                <a:solidFill>
                  <a:srgbClr val="855959"/>
                </a:solidFill>
                <a:latin typeface="Consolas"/>
                <a:cs typeface="Consolas"/>
              </a:rPr>
              <a:t> </a:t>
            </a:r>
            <a:r>
              <a:rPr dirty="0" sz="1800" spc="-45">
                <a:solidFill>
                  <a:srgbClr val="2D0805"/>
                </a:solidFill>
                <a:latin typeface="Consolas"/>
                <a:cs typeface="Consolas"/>
              </a:rPr>
              <a:t>not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dirty="0" sz="1800">
                <a:solidFill>
                  <a:srgbClr val="AF7C7E"/>
                </a:solidFill>
                <a:latin typeface="Consolas"/>
                <a:cs typeface="Consolas"/>
              </a:rPr>
              <a:t>2</a:t>
            </a:r>
            <a:r>
              <a:rPr dirty="0" sz="1800" spc="45">
                <a:solidFill>
                  <a:srgbClr val="AF7C7E"/>
                </a:solidFill>
                <a:latin typeface="Consolas"/>
                <a:cs typeface="Consolas"/>
              </a:rPr>
              <a:t> </a:t>
            </a:r>
            <a:r>
              <a:rPr dirty="0" sz="1800" spc="-45">
                <a:solidFill>
                  <a:srgbClr val="310508"/>
                </a:solidFill>
                <a:latin typeface="Consolas"/>
                <a:cs typeface="Consolas"/>
              </a:rPr>
              <a:t>not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07658" y="6001514"/>
            <a:ext cx="605155" cy="3003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>
                <a:solidFill>
                  <a:srgbClr val="C4C4C4"/>
                </a:solidFill>
                <a:latin typeface="Consolas"/>
                <a:cs typeface="Consolas"/>
              </a:rPr>
              <a:t>in</a:t>
            </a:r>
            <a:r>
              <a:rPr dirty="0" sz="1800" spc="100">
                <a:solidFill>
                  <a:srgbClr val="C4C4C4"/>
                </a:solidFill>
                <a:latin typeface="Consolas"/>
                <a:cs typeface="Consolas"/>
              </a:rPr>
              <a:t> </a:t>
            </a:r>
            <a:r>
              <a:rPr dirty="0" sz="1800" spc="-280">
                <a:solidFill>
                  <a:srgbClr val="E8B1AA"/>
                </a:solidFill>
                <a:latin typeface="Consolas"/>
                <a:cs typeface="Consolas"/>
              </a:rPr>
              <a:t>е:</a:t>
            </a:r>
            <a:endParaRPr sz="1800">
              <a:latin typeface="Consolas"/>
              <a:cs typeface="Consolas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7099260" y="0"/>
            <a:ext cx="605155" cy="11285220"/>
            <a:chOff x="7099260" y="0"/>
            <a:chExt cx="605155" cy="11285220"/>
          </a:xfrm>
        </p:grpSpPr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07113" y="1280065"/>
              <a:ext cx="588987" cy="486896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7099260" y="0"/>
              <a:ext cx="605155" cy="11285220"/>
            </a:xfrm>
            <a:custGeom>
              <a:avLst/>
              <a:gdLst/>
              <a:ahLst/>
              <a:cxnLst/>
              <a:rect l="l" t="t" r="r" b="b"/>
              <a:pathLst>
                <a:path w="605154" h="11285220">
                  <a:moveTo>
                    <a:pt x="604693" y="11284997"/>
                  </a:moveTo>
                  <a:lnTo>
                    <a:pt x="0" y="11284997"/>
                  </a:lnTo>
                  <a:lnTo>
                    <a:pt x="0" y="0"/>
                  </a:lnTo>
                  <a:lnTo>
                    <a:pt x="604693" y="0"/>
                  </a:lnTo>
                  <a:lnTo>
                    <a:pt x="604693" y="11284997"/>
                  </a:lnTo>
                  <a:close/>
                </a:path>
              </a:pathLst>
            </a:custGeom>
            <a:solidFill>
              <a:srgbClr val="1111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6407658" y="5623908"/>
            <a:ext cx="1261110" cy="32004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800">
                <a:solidFill>
                  <a:srgbClr val="521808"/>
                </a:solidFill>
                <a:latin typeface="Consolas"/>
                <a:cs typeface="Consolas"/>
              </a:rPr>
              <a:t>in</a:t>
            </a:r>
            <a:r>
              <a:rPr dirty="0" sz="1800" spc="45">
                <a:solidFill>
                  <a:srgbClr val="521808"/>
                </a:solidFill>
                <a:latin typeface="Consolas"/>
                <a:cs typeface="Consolas"/>
              </a:rPr>
              <a:t> </a:t>
            </a:r>
            <a:r>
              <a:rPr dirty="0" sz="1800" spc="-215">
                <a:solidFill>
                  <a:srgbClr val="EBAFAE"/>
                </a:solidFill>
                <a:latin typeface="Consolas"/>
                <a:cs typeface="Consolas"/>
              </a:rPr>
              <a:t>е:</a:t>
            </a:r>
            <a:r>
              <a:rPr dirty="0" sz="1800" spc="-315">
                <a:solidFill>
                  <a:srgbClr val="EBAFAE"/>
                </a:solidFill>
                <a:latin typeface="Consolas"/>
                <a:cs typeface="Consolas"/>
              </a:rPr>
              <a:t> </a:t>
            </a:r>
            <a:r>
              <a:rPr dirty="0" sz="1900" spc="-10">
                <a:solidFill>
                  <a:srgbClr val="1F0300"/>
                </a:solidFill>
                <a:latin typeface="Arial"/>
                <a:cs typeface="Arial"/>
              </a:rPr>
              <a:t>›ecte</a:t>
            </a:r>
            <a:endParaRPr sz="19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07658" y="6707644"/>
            <a:ext cx="1258570" cy="32004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800">
                <a:solidFill>
                  <a:srgbClr val="461305"/>
                </a:solidFill>
                <a:latin typeface="Consolas"/>
                <a:cs typeface="Consolas"/>
              </a:rPr>
              <a:t>in</a:t>
            </a:r>
            <a:r>
              <a:rPr dirty="0" sz="1800" spc="45">
                <a:solidFill>
                  <a:srgbClr val="461305"/>
                </a:solidFill>
                <a:latin typeface="Consolas"/>
                <a:cs typeface="Consolas"/>
              </a:rPr>
              <a:t> </a:t>
            </a:r>
            <a:r>
              <a:rPr dirty="0" sz="1800" spc="-215">
                <a:solidFill>
                  <a:srgbClr val="F4B8CA"/>
                </a:solidFill>
                <a:latin typeface="Consolas"/>
                <a:cs typeface="Consolas"/>
              </a:rPr>
              <a:t>е:</a:t>
            </a:r>
            <a:r>
              <a:rPr dirty="0" sz="1800" spc="-310">
                <a:solidFill>
                  <a:srgbClr val="F4B8CA"/>
                </a:solidFill>
                <a:latin typeface="Consolas"/>
                <a:cs typeface="Consolas"/>
              </a:rPr>
              <a:t> </a:t>
            </a:r>
            <a:r>
              <a:rPr dirty="0" sz="1900" spc="-35">
                <a:solidFill>
                  <a:srgbClr val="2F0000"/>
                </a:solidFill>
                <a:latin typeface="Arial"/>
                <a:cs typeface="Arial"/>
              </a:rPr>
              <a:t>3ecte</a:t>
            </a:r>
            <a:endParaRPr sz="19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07658" y="7068890"/>
            <a:ext cx="1261110" cy="32004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800">
                <a:solidFill>
                  <a:srgbClr val="C6C6C6"/>
                </a:solidFill>
                <a:latin typeface="Consolas"/>
                <a:cs typeface="Consolas"/>
              </a:rPr>
              <a:t>in</a:t>
            </a:r>
            <a:r>
              <a:rPr dirty="0" sz="1800" spc="45">
                <a:solidFill>
                  <a:srgbClr val="C6C6C6"/>
                </a:solidFill>
                <a:latin typeface="Consolas"/>
                <a:cs typeface="Consolas"/>
              </a:rPr>
              <a:t> </a:t>
            </a:r>
            <a:r>
              <a:rPr dirty="0" sz="1800" spc="-215">
                <a:solidFill>
                  <a:srgbClr val="DFB1BF"/>
                </a:solidFill>
                <a:latin typeface="Consolas"/>
                <a:cs typeface="Consolas"/>
              </a:rPr>
              <a:t>е:</a:t>
            </a:r>
            <a:r>
              <a:rPr dirty="0" sz="1800" spc="-315">
                <a:solidFill>
                  <a:srgbClr val="DFB1BF"/>
                </a:solidFill>
                <a:latin typeface="Consolas"/>
                <a:cs typeface="Consolas"/>
              </a:rPr>
              <a:t> </a:t>
            </a:r>
            <a:r>
              <a:rPr dirty="0" sz="1900" spc="-10">
                <a:solidFill>
                  <a:srgbClr val="2A0000"/>
                </a:solidFill>
                <a:latin typeface="Arial"/>
                <a:cs typeface="Arial"/>
              </a:rPr>
              <a:t>›ecte</a:t>
            </a:r>
            <a:endParaRPr sz="19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821751" y="0"/>
            <a:ext cx="1311910" cy="11285220"/>
          </a:xfrm>
          <a:custGeom>
            <a:avLst/>
            <a:gdLst/>
            <a:ahLst/>
            <a:cxnLst/>
            <a:rect l="l" t="t" r="r" b="b"/>
            <a:pathLst>
              <a:path w="1311909" h="11285220">
                <a:moveTo>
                  <a:pt x="1311478" y="11284997"/>
                </a:moveTo>
                <a:lnTo>
                  <a:pt x="0" y="11284997"/>
                </a:lnTo>
                <a:lnTo>
                  <a:pt x="0" y="0"/>
                </a:lnTo>
                <a:lnTo>
                  <a:pt x="1311478" y="0"/>
                </a:lnTo>
                <a:lnTo>
                  <a:pt x="1311478" y="11284997"/>
                </a:lnTo>
                <a:close/>
              </a:path>
            </a:pathLst>
          </a:custGeom>
          <a:solidFill>
            <a:srgbClr val="1111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6407658" y="6346399"/>
            <a:ext cx="1845310" cy="32004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1548130" algn="l"/>
              </a:tabLst>
            </a:pPr>
            <a:r>
              <a:rPr dirty="0" sz="1800">
                <a:solidFill>
                  <a:srgbClr val="441100"/>
                </a:solidFill>
                <a:latin typeface="Consolas"/>
                <a:cs typeface="Consolas"/>
              </a:rPr>
              <a:t>in</a:t>
            </a:r>
            <a:r>
              <a:rPr dirty="0" sz="1800" spc="45">
                <a:solidFill>
                  <a:srgbClr val="441100"/>
                </a:solidFill>
                <a:latin typeface="Consolas"/>
                <a:cs typeface="Consolas"/>
              </a:rPr>
              <a:t> </a:t>
            </a:r>
            <a:r>
              <a:rPr dirty="0" sz="1800" spc="-215">
                <a:solidFill>
                  <a:srgbClr val="F9C8D4"/>
                </a:solidFill>
                <a:latin typeface="Consolas"/>
                <a:cs typeface="Consolas"/>
              </a:rPr>
              <a:t>е:</a:t>
            </a:r>
            <a:r>
              <a:rPr dirty="0" sz="1800" spc="-315">
                <a:solidFill>
                  <a:srgbClr val="F9C8D4"/>
                </a:solidFill>
                <a:latin typeface="Consolas"/>
                <a:cs typeface="Consolas"/>
              </a:rPr>
              <a:t> </a:t>
            </a:r>
            <a:r>
              <a:rPr dirty="0" sz="1900" spc="-20">
                <a:solidFill>
                  <a:srgbClr val="CACACA"/>
                </a:solidFill>
                <a:latin typeface="Arial"/>
                <a:cs typeface="Arial"/>
              </a:rPr>
              <a:t>›ecte</a:t>
            </a:r>
            <a:r>
              <a:rPr dirty="0" sz="1900">
                <a:solidFill>
                  <a:srgbClr val="CACACA"/>
                </a:solidFill>
                <a:latin typeface="Arial"/>
                <a:cs typeface="Arial"/>
              </a:rPr>
              <a:t>	</a:t>
            </a:r>
            <a:r>
              <a:rPr dirty="0" sz="1800" spc="-85">
                <a:solidFill>
                  <a:srgbClr val="703F42"/>
                </a:solidFill>
                <a:latin typeface="Trebuchet MS"/>
                <a:cs typeface="Trebuchet MS"/>
              </a:rPr>
              <a:t>[</a:t>
            </a:r>
            <a:r>
              <a:rPr dirty="0" sz="1800" spc="-325">
                <a:solidFill>
                  <a:srgbClr val="703F42"/>
                </a:solidFill>
                <a:latin typeface="Trebuchet MS"/>
                <a:cs typeface="Trebuchet MS"/>
              </a:rPr>
              <a:t> </a:t>
            </a:r>
            <a:r>
              <a:rPr dirty="0" sz="1800" spc="-65">
                <a:solidFill>
                  <a:srgbClr val="C6C6C6"/>
                </a:solidFill>
                <a:latin typeface="Trebuchet MS"/>
                <a:cs typeface="Trebuchet MS"/>
              </a:rPr>
              <a:t>1]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9251027" y="0"/>
            <a:ext cx="2159635" cy="11285220"/>
          </a:xfrm>
          <a:custGeom>
            <a:avLst/>
            <a:gdLst/>
            <a:ahLst/>
            <a:cxnLst/>
            <a:rect l="l" t="t" r="r" b="b"/>
            <a:pathLst>
              <a:path w="2159634" h="11285220">
                <a:moveTo>
                  <a:pt x="2159620" y="11284997"/>
                </a:moveTo>
                <a:lnTo>
                  <a:pt x="0" y="11284997"/>
                </a:lnTo>
                <a:lnTo>
                  <a:pt x="0" y="0"/>
                </a:lnTo>
                <a:lnTo>
                  <a:pt x="2159620" y="0"/>
                </a:lnTo>
                <a:lnTo>
                  <a:pt x="2159620" y="11284997"/>
                </a:lnTo>
                <a:close/>
              </a:path>
            </a:pathLst>
          </a:custGeom>
          <a:solidFill>
            <a:srgbClr val="1111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/>
          <p:nvPr/>
        </p:nvSpPr>
        <p:spPr>
          <a:xfrm>
            <a:off x="11512738" y="0"/>
            <a:ext cx="1515745" cy="11285220"/>
          </a:xfrm>
          <a:custGeom>
            <a:avLst/>
            <a:gdLst/>
            <a:ahLst/>
            <a:cxnLst/>
            <a:rect l="l" t="t" r="r" b="b"/>
            <a:pathLst>
              <a:path w="1515744" h="11285220">
                <a:moveTo>
                  <a:pt x="1515660" y="11284997"/>
                </a:moveTo>
                <a:lnTo>
                  <a:pt x="0" y="11284997"/>
                </a:lnTo>
                <a:lnTo>
                  <a:pt x="0" y="0"/>
                </a:lnTo>
                <a:lnTo>
                  <a:pt x="1515660" y="0"/>
                </a:lnTo>
                <a:lnTo>
                  <a:pt x="1515660" y="11284997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/>
          <p:nvPr/>
        </p:nvSpPr>
        <p:spPr>
          <a:xfrm>
            <a:off x="7787606" y="1126663"/>
            <a:ext cx="5218430" cy="71310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4000" spc="225">
                <a:solidFill>
                  <a:srgbClr val="FFFFFF"/>
                </a:solidFill>
                <a:latin typeface="Trebuchet MS"/>
                <a:cs typeface="Trebuchet MS"/>
              </a:rPr>
              <a:t>BceM</a:t>
            </a:r>
            <a:r>
              <a:rPr dirty="0" sz="4000" spc="-5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4350">
                <a:solidFill>
                  <a:srgbClr val="FFFFFF"/>
                </a:solidFill>
                <a:latin typeface="Arial"/>
                <a:cs typeface="Arial"/>
              </a:rPr>
              <a:t>Корпусе</a:t>
            </a:r>
            <a:r>
              <a:rPr dirty="0" sz="4350" spc="-8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4500" spc="-10">
                <a:solidFill>
                  <a:srgbClr val="FFFFFF"/>
                </a:solidFill>
                <a:latin typeface="Arial"/>
                <a:cs typeface="Arial"/>
              </a:rPr>
              <a:t>сразу</a:t>
            </a:r>
            <a:endParaRPr sz="4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910967"/>
            <a:ext cx="20080605" cy="196850"/>
          </a:xfrm>
          <a:custGeom>
            <a:avLst/>
            <a:gdLst/>
            <a:ahLst/>
            <a:cxnLst/>
            <a:rect l="l" t="t" r="r" b="b"/>
            <a:pathLst>
              <a:path w="20080605" h="196850">
                <a:moveTo>
                  <a:pt x="20080541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96329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41649" y="850493"/>
            <a:ext cx="267525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210">
                <a:solidFill>
                  <a:srgbClr val="B5B5B5"/>
                </a:solidFill>
                <a:latin typeface="Consolas"/>
                <a:cs typeface="Consolas"/>
              </a:rPr>
              <a:t>IOCTAHOBHA</a:t>
            </a:r>
            <a:r>
              <a:rPr dirty="0" sz="1650" spc="-85">
                <a:solidFill>
                  <a:srgbClr val="B5B5B5"/>
                </a:solidFill>
                <a:latin typeface="Consolas"/>
                <a:cs typeface="Consolas"/>
              </a:rPr>
              <a:t>  </a:t>
            </a:r>
            <a:r>
              <a:rPr dirty="0" sz="1650">
                <a:solidFill>
                  <a:srgbClr val="999AB5"/>
                </a:solidFill>
                <a:latin typeface="Consolas"/>
                <a:cs typeface="Consolas"/>
              </a:rPr>
              <a:t>h</a:t>
            </a:r>
            <a:r>
              <a:rPr dirty="0" sz="1650" spc="-140">
                <a:solidFill>
                  <a:srgbClr val="999AB5"/>
                </a:solidFill>
                <a:latin typeface="Consolas"/>
                <a:cs typeface="Consolas"/>
              </a:rPr>
              <a:t>  </a:t>
            </a:r>
            <a:r>
              <a:rPr dirty="0" sz="1650" spc="-135">
                <a:solidFill>
                  <a:srgbClr val="B3B3B3"/>
                </a:solidFill>
                <a:latin typeface="Consolas"/>
                <a:cs typeface="Consolas"/>
              </a:rPr>
              <a:t>M</a:t>
            </a:r>
            <a:r>
              <a:rPr dirty="0" sz="1650" spc="-585">
                <a:solidFill>
                  <a:srgbClr val="B3B3B3"/>
                </a:solidFill>
                <a:latin typeface="Consolas"/>
                <a:cs typeface="Consolas"/>
              </a:rPr>
              <a:t> </a:t>
            </a:r>
            <a:r>
              <a:rPr dirty="0" sz="1650" spc="155">
                <a:solidFill>
                  <a:srgbClr val="A8A8A8"/>
                </a:solidFill>
                <a:latin typeface="Consolas"/>
                <a:cs typeface="Consolas"/>
              </a:rPr>
              <a:t>ETOQ</a:t>
            </a:r>
            <a:endParaRPr sz="1650">
              <a:latin typeface="Consolas"/>
              <a:cs typeface="Consola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5706" y="1287918"/>
            <a:ext cx="20080605" cy="542290"/>
          </a:xfrm>
          <a:custGeom>
            <a:avLst/>
            <a:gdLst/>
            <a:ahLst/>
            <a:cxnLst/>
            <a:rect l="l" t="t" r="r" b="b"/>
            <a:pathLst>
              <a:path w="20080605" h="542289">
                <a:moveTo>
                  <a:pt x="20080541" y="541868"/>
                </a:moveTo>
                <a:lnTo>
                  <a:pt x="0" y="541868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41868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6985">
              <a:lnSpc>
                <a:spcPct val="100000"/>
              </a:lnSpc>
              <a:spcBef>
                <a:spcPts val="105"/>
              </a:spcBef>
            </a:pPr>
            <a:r>
              <a:rPr dirty="0" spc="70"/>
              <a:t>Контрпример</a:t>
            </a:r>
            <a:r>
              <a:rPr dirty="0" spc="-114"/>
              <a:t> </a:t>
            </a:r>
            <a:r>
              <a:rPr dirty="0" spc="-30"/>
              <a:t>важнее</a:t>
            </a:r>
            <a:r>
              <a:rPr dirty="0" spc="-260"/>
              <a:t> </a:t>
            </a:r>
            <a:r>
              <a:rPr dirty="0" spc="-10"/>
              <a:t>метрики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15706" y="4617660"/>
            <a:ext cx="20088860" cy="251460"/>
            <a:chOff x="15706" y="4617660"/>
            <a:chExt cx="20088860" cy="25146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706" y="4617660"/>
              <a:ext cx="20088393" cy="25130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706" y="4617660"/>
              <a:ext cx="20088393" cy="251301"/>
            </a:xfrm>
            <a:prstGeom prst="rect">
              <a:avLst/>
            </a:prstGeom>
          </p:spPr>
        </p:pic>
      </p:grpSp>
      <p:sp>
        <p:nvSpPr>
          <p:cNvPr id="9" name="object 9"/>
          <p:cNvSpPr/>
          <p:nvPr/>
        </p:nvSpPr>
        <p:spPr>
          <a:xfrm>
            <a:off x="15706" y="5183088"/>
            <a:ext cx="20080605" cy="290830"/>
          </a:xfrm>
          <a:custGeom>
            <a:avLst/>
            <a:gdLst/>
            <a:ahLst/>
            <a:cxnLst/>
            <a:rect l="l" t="t" r="r" b="b"/>
            <a:pathLst>
              <a:path w="20080605" h="290829">
                <a:moveTo>
                  <a:pt x="20080541" y="290567"/>
                </a:moveTo>
                <a:lnTo>
                  <a:pt x="0" y="290567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90567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0" name="object 10"/>
          <p:cNvGrpSpPr/>
          <p:nvPr/>
        </p:nvGrpSpPr>
        <p:grpSpPr>
          <a:xfrm>
            <a:off x="15706" y="5654278"/>
            <a:ext cx="20080605" cy="290830"/>
            <a:chOff x="15706" y="5654278"/>
            <a:chExt cx="20080605" cy="290830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276961" y="5724956"/>
              <a:ext cx="125650" cy="14921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5706" y="5654278"/>
              <a:ext cx="20080605" cy="290830"/>
            </a:xfrm>
            <a:custGeom>
              <a:avLst/>
              <a:gdLst/>
              <a:ahLst/>
              <a:cxnLst/>
              <a:rect l="l" t="t" r="r" b="b"/>
              <a:pathLst>
                <a:path w="20080605" h="290829">
                  <a:moveTo>
                    <a:pt x="20080541" y="290567"/>
                  </a:moveTo>
                  <a:lnTo>
                    <a:pt x="0" y="290567"/>
                  </a:lnTo>
                  <a:lnTo>
                    <a:pt x="0" y="0"/>
                  </a:lnTo>
                  <a:lnTo>
                    <a:pt x="20080541" y="0"/>
                  </a:lnTo>
                  <a:lnTo>
                    <a:pt x="20080541" y="290567"/>
                  </a:lnTo>
                  <a:close/>
                </a:path>
              </a:pathLst>
            </a:custGeom>
            <a:solidFill>
              <a:srgbClr val="1113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76858" y="4989947"/>
            <a:ext cx="7504430" cy="948055"/>
          </a:xfrm>
          <a:prstGeom prst="rect">
            <a:avLst/>
          </a:prstGeom>
        </p:spPr>
        <p:txBody>
          <a:bodyPr wrap="square" lIns="0" tIns="125730" rIns="0" bIns="0" rtlCol="0" vert="horz">
            <a:spAutoFit/>
          </a:bodyPr>
          <a:lstStyle/>
          <a:p>
            <a:pPr marL="21590">
              <a:lnSpc>
                <a:spcPct val="100000"/>
              </a:lnSpc>
              <a:spcBef>
                <a:spcPts val="990"/>
              </a:spcBef>
              <a:tabLst>
                <a:tab pos="1536700" algn="l"/>
              </a:tabLst>
            </a:pPr>
            <a:r>
              <a:rPr dirty="0" sz="2200" spc="-10">
                <a:solidFill>
                  <a:srgbClr val="FFFFFF"/>
                </a:solidFill>
                <a:latin typeface="Arial"/>
                <a:cs typeface="Arial"/>
              </a:rPr>
              <a:t>Значение</a:t>
            </a:r>
            <a:r>
              <a:rPr dirty="0" sz="220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dirty="0" sz="2200" spc="-35">
                <a:solidFill>
                  <a:srgbClr val="FFFFFF"/>
                </a:solidFill>
                <a:latin typeface="Arial"/>
                <a:cs typeface="Arial"/>
              </a:rPr>
              <a:t>повторяется</a:t>
            </a:r>
            <a:r>
              <a:rPr dirty="0" sz="2200" spc="-9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200" spc="-55">
                <a:solidFill>
                  <a:srgbClr val="EFEFEF"/>
                </a:solidFill>
                <a:latin typeface="Arial"/>
                <a:cs typeface="Arial"/>
              </a:rPr>
              <a:t>в</a:t>
            </a:r>
            <a:r>
              <a:rPr dirty="0" sz="2200" spc="-195">
                <a:solidFill>
                  <a:srgbClr val="EFEFEF"/>
                </a:solidFill>
                <a:latin typeface="Arial"/>
                <a:cs typeface="Arial"/>
              </a:rPr>
              <a:t> </a:t>
            </a:r>
            <a:r>
              <a:rPr dirty="0" sz="2200" spc="-10">
                <a:solidFill>
                  <a:srgbClr val="F0F0F0"/>
                </a:solidFill>
                <a:latin typeface="Arial"/>
                <a:cs typeface="Arial"/>
              </a:rPr>
              <a:t>независимых</a:t>
            </a:r>
            <a:r>
              <a:rPr dirty="0" sz="2200" spc="25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2200" spc="-20">
                <a:solidFill>
                  <a:srgbClr val="FFFFFF"/>
                </a:solidFill>
                <a:latin typeface="Arial"/>
                <a:cs typeface="Arial"/>
              </a:rPr>
              <a:t>сессиях</a:t>
            </a:r>
            <a:r>
              <a:rPr dirty="0" sz="2200" spc="-114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200" spc="-10">
                <a:solidFill>
                  <a:srgbClr val="F2F2F2"/>
                </a:solidFill>
                <a:latin typeface="Arial"/>
                <a:cs typeface="Arial"/>
              </a:rPr>
              <a:t>корпуса</a:t>
            </a:r>
            <a:r>
              <a:rPr dirty="0" sz="2200" spc="-114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200" spc="-50">
                <a:solidFill>
                  <a:srgbClr val="EFEFEF"/>
                </a:solidFill>
                <a:latin typeface="Arial"/>
                <a:cs typeface="Arial"/>
              </a:rPr>
              <a:t>и</a:t>
            </a:r>
            <a:endParaRPr sz="2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dirty="0" sz="2300" spc="-80">
                <a:solidFill>
                  <a:srgbClr val="FFFFFF"/>
                </a:solidFill>
                <a:latin typeface="Arial"/>
                <a:cs typeface="Arial"/>
              </a:rPr>
              <a:t>напрямую</a:t>
            </a:r>
            <a:r>
              <a:rPr dirty="0" sz="23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85">
                <a:solidFill>
                  <a:srgbClr val="FFFFFF"/>
                </a:solidFill>
                <a:latin typeface="Arial"/>
                <a:cs typeface="Arial"/>
              </a:rPr>
              <a:t>связано</a:t>
            </a:r>
            <a:r>
              <a:rPr dirty="0" sz="2300" spc="-1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300" spc="-100">
                <a:solidFill>
                  <a:srgbClr val="EFEFEF"/>
                </a:solidFill>
                <a:latin typeface="Arial"/>
                <a:cs typeface="Arial"/>
              </a:rPr>
              <a:t>с</a:t>
            </a:r>
            <a:r>
              <a:rPr dirty="0" sz="2300" spc="-175">
                <a:solidFill>
                  <a:srgbClr val="EFEFEF"/>
                </a:solidFill>
                <a:latin typeface="Arial"/>
                <a:cs typeface="Arial"/>
              </a:rPr>
              <a:t> </a:t>
            </a:r>
            <a:r>
              <a:rPr dirty="0" sz="2300" spc="-10">
                <a:solidFill>
                  <a:srgbClr val="FFFFFF"/>
                </a:solidFill>
                <a:latin typeface="Arial"/>
                <a:cs typeface="Arial"/>
              </a:rPr>
              <a:t>действием</a:t>
            </a:r>
            <a:endParaRPr sz="23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5706" y="6109761"/>
            <a:ext cx="20080605" cy="463550"/>
          </a:xfrm>
          <a:custGeom>
            <a:avLst/>
            <a:gdLst/>
            <a:ahLst/>
            <a:cxnLst/>
            <a:rect l="l" t="t" r="r" b="b"/>
            <a:pathLst>
              <a:path w="20080605" h="463550">
                <a:moveTo>
                  <a:pt x="20080541" y="463336"/>
                </a:moveTo>
                <a:lnTo>
                  <a:pt x="0" y="463336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463336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10181421" y="6014603"/>
            <a:ext cx="2551430" cy="3790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2300" spc="-85">
                <a:solidFill>
                  <a:srgbClr val="F6F6F6"/>
                </a:solidFill>
                <a:latin typeface="Arial"/>
                <a:cs typeface="Arial"/>
              </a:rPr>
              <a:t>журнале</a:t>
            </a:r>
            <a:r>
              <a:rPr dirty="0" sz="2300" spc="-50">
                <a:solidFill>
                  <a:srgbClr val="F6F6F6"/>
                </a:solidFill>
                <a:latin typeface="Arial"/>
                <a:cs typeface="Arial"/>
              </a:rPr>
              <a:t> устройств.</a:t>
            </a:r>
            <a:endParaRPr sz="23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782149" y="6171012"/>
            <a:ext cx="4536440" cy="39878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2450" spc="90">
                <a:solidFill>
                  <a:srgbClr val="FFFFFF"/>
                </a:solidFill>
                <a:latin typeface="Arial"/>
                <a:cs typeface="Arial"/>
              </a:rPr>
              <a:t>Контрпримеров</a:t>
            </a:r>
            <a:r>
              <a:rPr dirty="0" sz="2450" spc="17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450" spc="90">
                <a:solidFill>
                  <a:srgbClr val="FFFFFF"/>
                </a:solidFill>
                <a:latin typeface="Arial"/>
                <a:cs typeface="Arial"/>
              </a:rPr>
              <a:t>на</a:t>
            </a:r>
            <a:r>
              <a:rPr dirty="0" sz="2450" spc="-1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450" spc="105">
                <a:solidFill>
                  <a:srgbClr val="FFFFFF"/>
                </a:solidFill>
                <a:latin typeface="Arial"/>
                <a:cs typeface="Arial"/>
              </a:rPr>
              <a:t>один</a:t>
            </a:r>
            <a:r>
              <a:rPr dirty="0" sz="2450" spc="-10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450" spc="55">
                <a:solidFill>
                  <a:srgbClr val="FFFFFF"/>
                </a:solidFill>
                <a:latin typeface="Arial"/>
                <a:cs typeface="Arial"/>
              </a:rPr>
              <a:t>байт</a:t>
            </a:r>
            <a:endParaRPr sz="245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5706" y="6785133"/>
            <a:ext cx="20080605" cy="196850"/>
          </a:xfrm>
          <a:custGeom>
            <a:avLst/>
            <a:gdLst/>
            <a:ahLst/>
            <a:cxnLst/>
            <a:rect l="l" t="t" r="r" b="b"/>
            <a:pathLst>
              <a:path w="20080605" h="196850">
                <a:moveTo>
                  <a:pt x="20080541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96329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2136310" y="6691284"/>
            <a:ext cx="577405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>
                <a:solidFill>
                  <a:srgbClr val="AAAAAA"/>
                </a:solidFill>
                <a:latin typeface="Arial"/>
                <a:cs typeface="Arial"/>
              </a:rPr>
              <a:t>80</a:t>
            </a:r>
            <a:r>
              <a:rPr dirty="0" sz="2050" spc="-7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2050" spc="-155">
                <a:solidFill>
                  <a:srgbClr val="AFAFAF"/>
                </a:solidFill>
                <a:latin typeface="Arial"/>
                <a:cs typeface="Arial"/>
              </a:rPr>
              <a:t>ічесоотеетстеии</a:t>
            </a:r>
            <a:r>
              <a:rPr dirty="0" sz="2050" spc="-4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050" spc="-250">
                <a:solidFill>
                  <a:srgbClr val="ACACAC"/>
                </a:solidFill>
                <a:latin typeface="Arial"/>
                <a:cs typeface="Arial"/>
              </a:rPr>
              <a:t>v1</a:t>
            </a:r>
            <a:r>
              <a:rPr dirty="0" sz="2050" spc="20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2050" spc="-800">
                <a:solidFill>
                  <a:srgbClr val="A1A1A1"/>
                </a:solidFill>
                <a:latin typeface="Arial"/>
                <a:cs typeface="Arial"/>
              </a:rPr>
              <a:t>—</a:t>
            </a:r>
            <a:r>
              <a:rPr dirty="0" sz="2050" spc="-20">
                <a:solidFill>
                  <a:srgbClr val="A1A1A1"/>
                </a:solidFill>
                <a:latin typeface="Arial"/>
                <a:cs typeface="Arial"/>
              </a:rPr>
              <a:t> </a:t>
            </a:r>
            <a:r>
              <a:rPr dirty="0" sz="2050" spc="-180">
                <a:solidFill>
                  <a:srgbClr val="A8A8A8"/>
                </a:solidFill>
                <a:latin typeface="Arial"/>
                <a:cs typeface="Arial"/>
              </a:rPr>
              <a:t>на</a:t>
            </a:r>
            <a:r>
              <a:rPr dirty="0" sz="2050" spc="-5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AEAEAE"/>
                </a:solidFill>
                <a:latin typeface="Arial"/>
                <a:cs typeface="Arial"/>
              </a:rPr>
              <a:t>oftset</a:t>
            </a:r>
            <a:r>
              <a:rPr dirty="0" sz="2050" spc="170">
                <a:solidFill>
                  <a:srgbClr val="AEAEAE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A8A8A8"/>
                </a:solidFill>
                <a:latin typeface="Arial"/>
                <a:cs typeface="Arial"/>
              </a:rPr>
              <a:t>0</a:t>
            </a:r>
            <a:r>
              <a:rPr dirty="0" sz="2050" spc="45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2050" spc="-380">
                <a:solidFill>
                  <a:srgbClr val="8997A0"/>
                </a:solidFill>
                <a:latin typeface="Arial"/>
                <a:cs typeface="Arial"/>
              </a:rPr>
              <a:t>е</a:t>
            </a:r>
            <a:r>
              <a:rPr dirty="0" sz="2050" spc="-10">
                <a:solidFill>
                  <a:srgbClr val="8997A0"/>
                </a:solidFill>
                <a:latin typeface="Arial"/>
                <a:cs typeface="Arial"/>
              </a:rPr>
              <a:t> </a:t>
            </a:r>
            <a:r>
              <a:rPr dirty="0" sz="2050" spc="-135">
                <a:solidFill>
                  <a:srgbClr val="AFAFAF"/>
                </a:solidFill>
                <a:latin typeface="Arial"/>
                <a:cs typeface="Arial"/>
              </a:rPr>
              <a:t>сессиях</a:t>
            </a:r>
            <a:r>
              <a:rPr dirty="0" sz="2050" spc="9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050" spc="-105">
                <a:solidFill>
                  <a:srgbClr val="ACACAC"/>
                </a:solidFill>
                <a:latin typeface="Arial"/>
                <a:cs typeface="Arial"/>
              </a:rPr>
              <a:t>s2</a:t>
            </a:r>
            <a:r>
              <a:rPr dirty="0" sz="2050" spc="-125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2050" spc="-215">
                <a:solidFill>
                  <a:srgbClr val="A0ACBC"/>
                </a:solidFill>
                <a:latin typeface="Arial"/>
                <a:cs typeface="Arial"/>
              </a:rPr>
              <a:t>и</a:t>
            </a:r>
            <a:r>
              <a:rPr dirty="0" sz="2050" spc="15">
                <a:solidFill>
                  <a:srgbClr val="A0ACBC"/>
                </a:solidFill>
                <a:latin typeface="Arial"/>
                <a:cs typeface="Arial"/>
              </a:rPr>
              <a:t> </a:t>
            </a:r>
            <a:r>
              <a:rPr dirty="0" sz="2050" spc="-25">
                <a:solidFill>
                  <a:srgbClr val="AFAFAF"/>
                </a:solidFill>
                <a:latin typeface="Arial"/>
                <a:cs typeface="Arial"/>
              </a:rPr>
              <a:t>s3</a:t>
            </a:r>
            <a:endParaRPr sz="20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910967"/>
            <a:ext cx="20080605" cy="180975"/>
          </a:xfrm>
          <a:custGeom>
            <a:avLst/>
            <a:gdLst/>
            <a:ahLst/>
            <a:cxnLst/>
            <a:rect l="l" t="t" r="r" b="b"/>
            <a:pathLst>
              <a:path w="20080605" h="180975">
                <a:moveTo>
                  <a:pt x="20080541" y="180622"/>
                </a:moveTo>
                <a:lnTo>
                  <a:pt x="0" y="180622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80622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43102" y="850493"/>
            <a:ext cx="148780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-220">
                <a:solidFill>
                  <a:srgbClr val="A1A1A1"/>
                </a:solidFill>
                <a:latin typeface="Arial"/>
                <a:cs typeface="Arial"/>
              </a:rPr>
              <a:t>P</a:t>
            </a:r>
            <a:r>
              <a:rPr dirty="0" sz="1650" spc="-110">
                <a:solidFill>
                  <a:srgbClr val="A1A1A1"/>
                </a:solidFill>
                <a:latin typeface="Arial"/>
                <a:cs typeface="Arial"/>
              </a:rPr>
              <a:t> </a:t>
            </a:r>
            <a:r>
              <a:rPr dirty="0" sz="1650" spc="-355">
                <a:solidFill>
                  <a:srgbClr val="525B69"/>
                </a:solidFill>
                <a:latin typeface="Arial"/>
                <a:cs typeface="Arial"/>
              </a:rPr>
              <a:t>E</a:t>
            </a:r>
            <a:r>
              <a:rPr dirty="0" sz="1650" spc="-30">
                <a:solidFill>
                  <a:srgbClr val="525B69"/>
                </a:solidFill>
                <a:latin typeface="Arial"/>
                <a:cs typeface="Arial"/>
              </a:rPr>
              <a:t> </a:t>
            </a:r>
            <a:r>
              <a:rPr dirty="0" sz="1650" spc="-60">
                <a:solidFill>
                  <a:srgbClr val="B1B1B1"/>
                </a:solidFill>
                <a:latin typeface="Arial"/>
                <a:cs typeface="Arial"/>
              </a:rPr>
              <a:t>3</a:t>
            </a:r>
            <a:r>
              <a:rPr dirty="0" sz="1650" spc="-80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1650" spc="-365">
                <a:solidFill>
                  <a:srgbClr val="A8A8A8"/>
                </a:solidFill>
                <a:latin typeface="Arial"/>
                <a:cs typeface="Arial"/>
              </a:rPr>
              <a:t>Y</a:t>
            </a:r>
            <a:r>
              <a:rPr dirty="0" sz="1650" spc="-75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1650" spc="-45">
                <a:solidFill>
                  <a:srgbClr val="A5A5A5"/>
                </a:solidFill>
                <a:latin typeface="Arial"/>
                <a:cs typeface="Arial"/>
              </a:rPr>
              <a:t>/!</a:t>
            </a:r>
            <a:r>
              <a:rPr dirty="0" sz="1650" spc="-185">
                <a:solidFill>
                  <a:srgbClr val="A5A5A5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ACACAC"/>
                </a:solidFill>
                <a:latin typeface="Arial"/>
                <a:cs typeface="Arial"/>
              </a:rPr>
              <a:t>b</a:t>
            </a:r>
            <a:r>
              <a:rPr dirty="0" sz="1650" spc="-114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1650" spc="-250">
                <a:solidFill>
                  <a:srgbClr val="9AA3B3"/>
                </a:solidFill>
                <a:latin typeface="Arial"/>
                <a:cs typeface="Arial"/>
              </a:rPr>
              <a:t>T</a:t>
            </a:r>
            <a:r>
              <a:rPr dirty="0" sz="1650" spc="-15">
                <a:solidFill>
                  <a:srgbClr val="9AA3B3"/>
                </a:solidFill>
                <a:latin typeface="Arial"/>
                <a:cs typeface="Arial"/>
              </a:rPr>
              <a:t> </a:t>
            </a:r>
            <a:r>
              <a:rPr dirty="0" sz="1650" spc="-400">
                <a:solidFill>
                  <a:srgbClr val="959EAC"/>
                </a:solidFill>
                <a:latin typeface="Arial"/>
                <a:cs typeface="Arial"/>
              </a:rPr>
              <a:t>A</a:t>
            </a:r>
            <a:r>
              <a:rPr dirty="0" sz="1650" spc="-40">
                <a:solidFill>
                  <a:srgbClr val="959EAC"/>
                </a:solidFill>
                <a:latin typeface="Arial"/>
                <a:cs typeface="Arial"/>
              </a:rPr>
              <a:t> </a:t>
            </a:r>
            <a:r>
              <a:rPr dirty="0" sz="1650" spc="-250">
                <a:solidFill>
                  <a:srgbClr val="95A1B1"/>
                </a:solidFill>
                <a:latin typeface="Arial"/>
                <a:cs typeface="Arial"/>
              </a:rPr>
              <a:t>T</a:t>
            </a:r>
            <a:r>
              <a:rPr dirty="0" sz="1650" spc="-20">
                <a:solidFill>
                  <a:srgbClr val="95A1B1"/>
                </a:solidFill>
                <a:latin typeface="Arial"/>
                <a:cs typeface="Arial"/>
              </a:rPr>
              <a:t> </a:t>
            </a:r>
            <a:r>
              <a:rPr dirty="0" sz="1650" spc="-320">
                <a:solidFill>
                  <a:srgbClr val="ACACAC"/>
                </a:solidFill>
                <a:latin typeface="Arial"/>
                <a:cs typeface="Arial"/>
              </a:rPr>
              <a:t>ŁI</a:t>
            </a:r>
            <a:endParaRPr sz="165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706" y="1272212"/>
            <a:ext cx="20088393" cy="581134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5706" y="5999817"/>
            <a:ext cx="20080605" cy="212090"/>
          </a:xfrm>
          <a:custGeom>
            <a:avLst/>
            <a:gdLst/>
            <a:ahLst/>
            <a:cxnLst/>
            <a:rect l="l" t="t" r="r" b="b"/>
            <a:pathLst>
              <a:path w="20080605" h="212089">
                <a:moveTo>
                  <a:pt x="20080541" y="212035"/>
                </a:moveTo>
                <a:lnTo>
                  <a:pt x="0" y="21203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12035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15706" y="6392475"/>
            <a:ext cx="20080605" cy="212090"/>
          </a:xfrm>
          <a:custGeom>
            <a:avLst/>
            <a:gdLst/>
            <a:ahLst/>
            <a:cxnLst/>
            <a:rect l="l" t="t" r="r" b="b"/>
            <a:pathLst>
              <a:path w="20080605" h="212090">
                <a:moveTo>
                  <a:pt x="20080541" y="212035"/>
                </a:moveTo>
                <a:lnTo>
                  <a:pt x="0" y="21203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12035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3049781" y="5890262"/>
            <a:ext cx="3192145" cy="71691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8595" marR="5080" indent="-176530">
              <a:lnSpc>
                <a:spcPct val="110600"/>
              </a:lnSpc>
              <a:spcBef>
                <a:spcPts val="95"/>
              </a:spcBef>
            </a:pPr>
            <a:r>
              <a:rPr dirty="0" sz="2050" spc="-35">
                <a:solidFill>
                  <a:srgbClr val="FFFFFF"/>
                </a:solidFill>
                <a:latin typeface="Arial"/>
                <a:cs typeface="Arial"/>
              </a:rPr>
              <a:t>Czano</a:t>
            </a:r>
            <a:r>
              <a:rPr dirty="0" sz="2050" spc="-27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FFFFFF"/>
                </a:solidFill>
                <a:latin typeface="Arial"/>
                <a:cs typeface="Arial"/>
              </a:rPr>
              <a:t>140</a:t>
            </a:r>
            <a:r>
              <a:rPr dirty="0" sz="2050" spc="-1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85">
                <a:solidFill>
                  <a:srgbClr val="FFFFFF"/>
                </a:solidFill>
                <a:latin typeface="Arial"/>
                <a:cs typeface="Arial"/>
              </a:rPr>
              <a:t>matched</a:t>
            </a:r>
            <a:r>
              <a:rPr dirty="0" sz="205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80">
                <a:solidFill>
                  <a:srgbClr val="FFFFFF"/>
                </a:solidFill>
                <a:latin typeface="Arial"/>
                <a:cs typeface="Arial"/>
              </a:rPr>
              <a:t>na</a:t>
            </a:r>
            <a:r>
              <a:rPr dirty="0" sz="2050" spc="-2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25">
                <a:solidFill>
                  <a:srgbClr val="FFFFFF"/>
                </a:solidFill>
                <a:latin typeface="Arial"/>
                <a:cs typeface="Arial"/>
              </a:rPr>
              <a:t>140 </a:t>
            </a:r>
            <a:r>
              <a:rPr dirty="0" sz="2050">
                <a:solidFill>
                  <a:srgbClr val="FDEFDD"/>
                </a:solidFill>
                <a:latin typeface="Arial"/>
                <a:cs typeface="Arial"/>
              </a:rPr>
              <a:t>и</a:t>
            </a:r>
            <a:r>
              <a:rPr dirty="0" sz="2050" spc="-70">
                <a:solidFill>
                  <a:srgbClr val="FDEFDD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FFFFFF"/>
                </a:solidFill>
                <a:latin typeface="Arial"/>
                <a:cs typeface="Arial"/>
              </a:rPr>
              <a:t>поль</a:t>
            </a:r>
            <a:r>
              <a:rPr dirty="0" sz="2050" spc="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10">
                <a:solidFill>
                  <a:srgbClr val="FFFFFF"/>
                </a:solidFill>
                <a:latin typeface="Arial"/>
                <a:cs typeface="Arial"/>
              </a:rPr>
              <a:t>коптрпрпмеров</a:t>
            </a:r>
            <a:endParaRPr sz="205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5706" y="8041640"/>
            <a:ext cx="20080605" cy="243840"/>
          </a:xfrm>
          <a:custGeom>
            <a:avLst/>
            <a:gdLst/>
            <a:ahLst/>
            <a:cxnLst/>
            <a:rect l="l" t="t" r="r" b="b"/>
            <a:pathLst>
              <a:path w="20080605" h="243840">
                <a:moveTo>
                  <a:pt x="20080541" y="243448"/>
                </a:moveTo>
                <a:lnTo>
                  <a:pt x="0" y="243448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43448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748914" y="7947790"/>
            <a:ext cx="7225030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195">
                <a:solidFill>
                  <a:srgbClr val="B1B1B1"/>
                </a:solidFill>
                <a:latin typeface="Arial"/>
                <a:cs typeface="Arial"/>
              </a:rPr>
              <a:t>На</a:t>
            </a:r>
            <a:r>
              <a:rPr dirty="0" sz="2050" spc="-95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2050" spc="-130">
                <a:solidFill>
                  <a:srgbClr val="ACACAC"/>
                </a:solidFill>
                <a:latin typeface="Arial"/>
                <a:cs typeface="Arial"/>
              </a:rPr>
              <a:t>корпусе</a:t>
            </a:r>
            <a:r>
              <a:rPr dirty="0" sz="2050" spc="-15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2050" spc="-160">
                <a:solidFill>
                  <a:srgbClr val="AFAFAF"/>
                </a:solidFill>
                <a:latin typeface="Arial"/>
                <a:cs typeface="Arial"/>
              </a:rPr>
              <a:t>уточнеНия</a:t>
            </a:r>
            <a:r>
              <a:rPr dirty="0" sz="2050" spc="39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050" spc="-170">
                <a:solidFill>
                  <a:srgbClr val="AFAFAF"/>
                </a:solidFill>
                <a:latin typeface="Arial"/>
                <a:cs typeface="Arial"/>
              </a:rPr>
              <a:t>Отдельно</a:t>
            </a:r>
            <a:r>
              <a:rPr dirty="0" sz="2050" spc="2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050" spc="-145">
                <a:solidFill>
                  <a:srgbClr val="AFAFAF"/>
                </a:solidFill>
                <a:latin typeface="Arial"/>
                <a:cs typeface="Arial"/>
              </a:rPr>
              <a:t>пposepeнo</a:t>
            </a:r>
            <a:r>
              <a:rPr dirty="0" sz="2050" spc="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2050" spc="-180">
                <a:solidFill>
                  <a:srgbClr val="9C9C9C"/>
                </a:solidFill>
                <a:latin typeface="Arial"/>
                <a:cs typeface="Arial"/>
              </a:rPr>
              <a:t>на</a:t>
            </a:r>
            <a:r>
              <a:rPr dirty="0" sz="2050" spc="-40">
                <a:solidFill>
                  <a:srgbClr val="9C9C9C"/>
                </a:solidFill>
                <a:latin typeface="Arial"/>
                <a:cs typeface="Arial"/>
              </a:rPr>
              <a:t> </a:t>
            </a:r>
            <a:r>
              <a:rPr dirty="0" sz="2050" spc="-150">
                <a:solidFill>
                  <a:srgbClr val="AAAAAA"/>
                </a:solidFill>
                <a:latin typeface="Arial"/>
                <a:cs typeface="Arial"/>
              </a:rPr>
              <a:t>реальном</a:t>
            </a:r>
            <a:r>
              <a:rPr dirty="0" sz="2050" spc="4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2050" spc="-95">
                <a:solidFill>
                  <a:srgbClr val="AEAEAE"/>
                </a:solidFill>
                <a:latin typeface="Arial"/>
                <a:cs typeface="Arial"/>
              </a:rPr>
              <a:t>датасете</a:t>
            </a:r>
            <a:endParaRPr sz="20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910967"/>
            <a:ext cx="20080605" cy="180975"/>
          </a:xfrm>
          <a:custGeom>
            <a:avLst/>
            <a:gdLst/>
            <a:ahLst/>
            <a:cxnLst/>
            <a:rect l="l" t="t" r="r" b="b"/>
            <a:pathLst>
              <a:path w="20080605" h="180975">
                <a:moveTo>
                  <a:pt x="20080541" y="180622"/>
                </a:moveTo>
                <a:lnTo>
                  <a:pt x="0" y="180622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80622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43102" y="850493"/>
            <a:ext cx="148780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-220">
                <a:solidFill>
                  <a:srgbClr val="A1A1A1"/>
                </a:solidFill>
                <a:latin typeface="Arial"/>
                <a:cs typeface="Arial"/>
              </a:rPr>
              <a:t>P</a:t>
            </a:r>
            <a:r>
              <a:rPr dirty="0" sz="1650" spc="-110">
                <a:solidFill>
                  <a:srgbClr val="A1A1A1"/>
                </a:solidFill>
                <a:latin typeface="Arial"/>
                <a:cs typeface="Arial"/>
              </a:rPr>
              <a:t> </a:t>
            </a:r>
            <a:r>
              <a:rPr dirty="0" sz="1650" spc="-355">
                <a:solidFill>
                  <a:srgbClr val="525B69"/>
                </a:solidFill>
                <a:latin typeface="Arial"/>
                <a:cs typeface="Arial"/>
              </a:rPr>
              <a:t>E</a:t>
            </a:r>
            <a:r>
              <a:rPr dirty="0" sz="1650" spc="-30">
                <a:solidFill>
                  <a:srgbClr val="525B69"/>
                </a:solidFill>
                <a:latin typeface="Arial"/>
                <a:cs typeface="Arial"/>
              </a:rPr>
              <a:t> </a:t>
            </a:r>
            <a:r>
              <a:rPr dirty="0" sz="1650" spc="-60">
                <a:solidFill>
                  <a:srgbClr val="B1B1B1"/>
                </a:solidFill>
                <a:latin typeface="Arial"/>
                <a:cs typeface="Arial"/>
              </a:rPr>
              <a:t>3</a:t>
            </a:r>
            <a:r>
              <a:rPr dirty="0" sz="1650" spc="-80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1650" spc="-365">
                <a:solidFill>
                  <a:srgbClr val="A8A8A8"/>
                </a:solidFill>
                <a:latin typeface="Arial"/>
                <a:cs typeface="Arial"/>
              </a:rPr>
              <a:t>Y</a:t>
            </a:r>
            <a:r>
              <a:rPr dirty="0" sz="1650" spc="-75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1650" spc="-45">
                <a:solidFill>
                  <a:srgbClr val="A5A5A5"/>
                </a:solidFill>
                <a:latin typeface="Arial"/>
                <a:cs typeface="Arial"/>
              </a:rPr>
              <a:t>/!</a:t>
            </a:r>
            <a:r>
              <a:rPr dirty="0" sz="1650" spc="-185">
                <a:solidFill>
                  <a:srgbClr val="A5A5A5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ACACAC"/>
                </a:solidFill>
                <a:latin typeface="Arial"/>
                <a:cs typeface="Arial"/>
              </a:rPr>
              <a:t>b</a:t>
            </a:r>
            <a:r>
              <a:rPr dirty="0" sz="1650" spc="-114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1650" spc="-250">
                <a:solidFill>
                  <a:srgbClr val="9AA3B3"/>
                </a:solidFill>
                <a:latin typeface="Arial"/>
                <a:cs typeface="Arial"/>
              </a:rPr>
              <a:t>T</a:t>
            </a:r>
            <a:r>
              <a:rPr dirty="0" sz="1650" spc="-15">
                <a:solidFill>
                  <a:srgbClr val="9AA3B3"/>
                </a:solidFill>
                <a:latin typeface="Arial"/>
                <a:cs typeface="Arial"/>
              </a:rPr>
              <a:t> </a:t>
            </a:r>
            <a:r>
              <a:rPr dirty="0" sz="1650" spc="-400">
                <a:solidFill>
                  <a:srgbClr val="959EAC"/>
                </a:solidFill>
                <a:latin typeface="Arial"/>
                <a:cs typeface="Arial"/>
              </a:rPr>
              <a:t>A</a:t>
            </a:r>
            <a:r>
              <a:rPr dirty="0" sz="1650" spc="-40">
                <a:solidFill>
                  <a:srgbClr val="959EAC"/>
                </a:solidFill>
                <a:latin typeface="Arial"/>
                <a:cs typeface="Arial"/>
              </a:rPr>
              <a:t> </a:t>
            </a:r>
            <a:r>
              <a:rPr dirty="0" sz="1650" spc="-250">
                <a:solidFill>
                  <a:srgbClr val="95A1B1"/>
                </a:solidFill>
                <a:latin typeface="Arial"/>
                <a:cs typeface="Arial"/>
              </a:rPr>
              <a:t>T</a:t>
            </a:r>
            <a:r>
              <a:rPr dirty="0" sz="1650" spc="-20">
                <a:solidFill>
                  <a:srgbClr val="95A1B1"/>
                </a:solidFill>
                <a:latin typeface="Arial"/>
                <a:cs typeface="Arial"/>
              </a:rPr>
              <a:t> </a:t>
            </a:r>
            <a:r>
              <a:rPr dirty="0" sz="1650" spc="-320">
                <a:solidFill>
                  <a:srgbClr val="ACACAC"/>
                </a:solidFill>
                <a:latin typeface="Arial"/>
                <a:cs typeface="Arial"/>
              </a:rPr>
              <a:t>ŁI</a:t>
            </a:r>
            <a:endParaRPr sz="16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5706" y="1272212"/>
            <a:ext cx="20080605" cy="558165"/>
          </a:xfrm>
          <a:custGeom>
            <a:avLst/>
            <a:gdLst/>
            <a:ahLst/>
            <a:cxnLst/>
            <a:rect l="l" t="t" r="r" b="b"/>
            <a:pathLst>
              <a:path w="20080605" h="558164">
                <a:moveTo>
                  <a:pt x="20080541" y="557574"/>
                </a:moveTo>
                <a:lnTo>
                  <a:pt x="0" y="55757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57574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987590" y="1102448"/>
            <a:ext cx="11295380" cy="732790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4600" spc="-10"/>
              <a:t>Осколки</a:t>
            </a:r>
            <a:r>
              <a:rPr dirty="0" sz="4600" spc="-315"/>
              <a:t> </a:t>
            </a:r>
            <a:r>
              <a:rPr dirty="0" sz="4600" spc="-70"/>
              <a:t>lP</a:t>
            </a:r>
            <a:r>
              <a:rPr dirty="0" sz="4600" spc="-635"/>
              <a:t> </a:t>
            </a:r>
            <a:r>
              <a:rPr dirty="0" sz="4600"/>
              <a:t>собираются</a:t>
            </a:r>
            <a:r>
              <a:rPr dirty="0" sz="4600" spc="-75"/>
              <a:t> </a:t>
            </a:r>
            <a:r>
              <a:rPr dirty="0" sz="4600"/>
              <a:t>в</a:t>
            </a:r>
            <a:r>
              <a:rPr dirty="0" sz="4600" spc="-415"/>
              <a:t> </a:t>
            </a:r>
            <a:r>
              <a:rPr dirty="0" sz="4600"/>
              <a:t>одно</a:t>
            </a:r>
            <a:r>
              <a:rPr dirty="0" sz="4600" spc="-440"/>
              <a:t> </a:t>
            </a:r>
            <a:r>
              <a:rPr dirty="0" sz="4600" spc="-10"/>
              <a:t>сообщение</a:t>
            </a:r>
            <a:endParaRPr sz="4600"/>
          </a:p>
        </p:txBody>
      </p:sp>
      <p:grpSp>
        <p:nvGrpSpPr>
          <p:cNvPr id="6" name="object 6"/>
          <p:cNvGrpSpPr/>
          <p:nvPr/>
        </p:nvGrpSpPr>
        <p:grpSpPr>
          <a:xfrm>
            <a:off x="15706" y="2780020"/>
            <a:ext cx="20080605" cy="322580"/>
            <a:chOff x="15706" y="2780020"/>
            <a:chExt cx="20080605" cy="32258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58925" y="2803579"/>
              <a:ext cx="2732901" cy="28271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5706" y="2780020"/>
              <a:ext cx="20080605" cy="322580"/>
            </a:xfrm>
            <a:custGeom>
              <a:avLst/>
              <a:gdLst/>
              <a:ahLst/>
              <a:cxnLst/>
              <a:rect l="l" t="t" r="r" b="b"/>
              <a:pathLst>
                <a:path w="20080605" h="322580">
                  <a:moveTo>
                    <a:pt x="20080541" y="321979"/>
                  </a:moveTo>
                  <a:lnTo>
                    <a:pt x="0" y="321979"/>
                  </a:lnTo>
                  <a:lnTo>
                    <a:pt x="0" y="0"/>
                  </a:lnTo>
                  <a:lnTo>
                    <a:pt x="20080541" y="0"/>
                  </a:lnTo>
                  <a:lnTo>
                    <a:pt x="20080541" y="321979"/>
                  </a:lnTo>
                  <a:close/>
                </a:path>
              </a:pathLst>
            </a:custGeom>
            <a:solidFill>
              <a:srgbClr val="1113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/>
          <p:nvPr/>
        </p:nvSpPr>
        <p:spPr>
          <a:xfrm>
            <a:off x="15706" y="3392566"/>
            <a:ext cx="20080605" cy="274955"/>
          </a:xfrm>
          <a:custGeom>
            <a:avLst/>
            <a:gdLst/>
            <a:ahLst/>
            <a:cxnLst/>
            <a:rect l="l" t="t" r="r" b="b"/>
            <a:pathLst>
              <a:path w="20080605" h="274954">
                <a:moveTo>
                  <a:pt x="20080541" y="274860"/>
                </a:moveTo>
                <a:lnTo>
                  <a:pt x="0" y="274860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74860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1511708" y="2683553"/>
            <a:ext cx="2851785" cy="97091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951865" algn="l"/>
              </a:tabLst>
            </a:pPr>
            <a:r>
              <a:rPr dirty="0" sz="2550">
                <a:solidFill>
                  <a:srgbClr val="56B3E8"/>
                </a:solidFill>
                <a:latin typeface="Arial"/>
                <a:cs typeface="Arial"/>
              </a:rPr>
              <a:t>I</a:t>
            </a:r>
            <a:r>
              <a:rPr dirty="0" sz="2550" spc="35">
                <a:solidFill>
                  <a:srgbClr val="56B3E8"/>
                </a:solidFill>
                <a:latin typeface="Arial"/>
                <a:cs typeface="Arial"/>
              </a:rPr>
              <a:t> </a:t>
            </a:r>
            <a:r>
              <a:rPr dirty="0" sz="2550" spc="-25">
                <a:solidFill>
                  <a:srgbClr val="387C82"/>
                </a:solidFill>
                <a:latin typeface="Arial"/>
                <a:cs typeface="Arial"/>
              </a:rPr>
              <a:t>Pvt</a:t>
            </a:r>
            <a:r>
              <a:rPr dirty="0" sz="2550">
                <a:solidFill>
                  <a:srgbClr val="387C82"/>
                </a:solidFill>
                <a:latin typeface="Arial"/>
                <a:cs typeface="Arial"/>
              </a:rPr>
              <a:t>	</a:t>
            </a:r>
            <a:r>
              <a:rPr dirty="0" sz="2550" spc="-229">
                <a:solidFill>
                  <a:srgbClr val="2F8EC6"/>
                </a:solidFill>
                <a:latin typeface="Arial"/>
                <a:cs typeface="Arial"/>
              </a:rPr>
              <a:t>Re</a:t>
            </a:r>
            <a:r>
              <a:rPr dirty="0" sz="2550" spc="-409">
                <a:solidFill>
                  <a:srgbClr val="2F8EC6"/>
                </a:solidFill>
                <a:latin typeface="Arial"/>
                <a:cs typeface="Arial"/>
              </a:rPr>
              <a:t> </a:t>
            </a:r>
            <a:r>
              <a:rPr dirty="0" sz="2550">
                <a:solidFill>
                  <a:srgbClr val="349CC8"/>
                </a:solidFill>
                <a:latin typeface="Arial"/>
                <a:cs typeface="Arial"/>
              </a:rPr>
              <a:t>as</a:t>
            </a:r>
            <a:r>
              <a:rPr dirty="0" sz="2550" spc="-450">
                <a:solidFill>
                  <a:srgbClr val="349CC8"/>
                </a:solidFill>
                <a:latin typeface="Arial"/>
                <a:cs typeface="Arial"/>
              </a:rPr>
              <a:t> </a:t>
            </a:r>
            <a:r>
              <a:rPr dirty="0" sz="2550" spc="90">
                <a:solidFill>
                  <a:srgbClr val="36B5DF"/>
                </a:solidFill>
                <a:latin typeface="Arial"/>
                <a:cs typeface="Arial"/>
              </a:rPr>
              <a:t>seriõl›/</a:t>
            </a:r>
            <a:endParaRPr sz="2550">
              <a:latin typeface="Arial"/>
              <a:cs typeface="Arial"/>
            </a:endParaRPr>
          </a:p>
          <a:p>
            <a:pPr marL="14604">
              <a:lnSpc>
                <a:spcPct val="100000"/>
              </a:lnSpc>
              <a:spcBef>
                <a:spcPts val="1889"/>
              </a:spcBef>
              <a:tabLst>
                <a:tab pos="2757170" algn="l"/>
              </a:tabLst>
            </a:pPr>
            <a:r>
              <a:rPr dirty="0" sz="2050" spc="-90">
                <a:solidFill>
                  <a:srgbClr val="FFFFFF"/>
                </a:solidFill>
                <a:latin typeface="Arial"/>
                <a:cs typeface="Arial"/>
              </a:rPr>
              <a:t>Групппрует</a:t>
            </a:r>
            <a:r>
              <a:rPr dirty="0" sz="20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E8E8E8"/>
                </a:solidFill>
                <a:latin typeface="Arial"/>
                <a:cs typeface="Arial"/>
              </a:rPr>
              <a:t>по</a:t>
            </a:r>
            <a:r>
              <a:rPr dirty="0" sz="2050" spc="140">
                <a:solidFill>
                  <a:srgbClr val="E8E8E8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D89331"/>
                </a:solidFill>
                <a:latin typeface="Arial"/>
                <a:cs typeface="Arial"/>
              </a:rPr>
              <a:t>!</a:t>
            </a:r>
            <a:r>
              <a:rPr dirty="0" sz="2050" spc="-185">
                <a:solidFill>
                  <a:srgbClr val="D89331"/>
                </a:solidFill>
                <a:latin typeface="Arial"/>
                <a:cs typeface="Arial"/>
              </a:rPr>
              <a:t> </a:t>
            </a:r>
            <a:r>
              <a:rPr dirty="0" sz="2050" spc="-320">
                <a:solidFill>
                  <a:srgbClr val="EB9131"/>
                </a:solidFill>
                <a:latin typeface="Arial"/>
                <a:cs typeface="Arial"/>
              </a:rPr>
              <a:t>‹..</a:t>
            </a:r>
            <a:r>
              <a:rPr dirty="0" sz="2050" spc="20">
                <a:solidFill>
                  <a:srgbClr val="EB9131"/>
                </a:solidFill>
                <a:latin typeface="Arial"/>
                <a:cs typeface="Arial"/>
              </a:rPr>
              <a:t> </a:t>
            </a:r>
            <a:r>
              <a:rPr dirty="0" sz="2050" spc="-50">
                <a:solidFill>
                  <a:srgbClr val="F6F6F6"/>
                </a:solidFill>
                <a:latin typeface="Arial"/>
                <a:cs typeface="Arial"/>
              </a:rPr>
              <a:t>и</a:t>
            </a:r>
            <a:r>
              <a:rPr dirty="0" sz="2050">
                <a:solidFill>
                  <a:srgbClr val="F6F6F6"/>
                </a:solidFill>
                <a:latin typeface="Arial"/>
                <a:cs typeface="Arial"/>
              </a:rPr>
              <a:t>	</a:t>
            </a:r>
            <a:r>
              <a:rPr dirty="0" sz="2050" spc="-50">
                <a:solidFill>
                  <a:srgbClr val="F9A833"/>
                </a:solidFill>
                <a:latin typeface="Arial"/>
                <a:cs typeface="Arial"/>
              </a:rPr>
              <a:t>“</a:t>
            </a:r>
            <a:endParaRPr sz="20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90236" y="3298062"/>
            <a:ext cx="1036319" cy="3594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200" spc="-150">
                <a:solidFill>
                  <a:srgbClr val="F0F0F0"/>
                </a:solidFill>
                <a:latin typeface="Arial"/>
                <a:cs typeface="Arial"/>
              </a:rPr>
              <a:t>,</a:t>
            </a:r>
            <a:r>
              <a:rPr dirty="0" sz="2200" spc="-135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2200">
                <a:solidFill>
                  <a:srgbClr val="EFEFEF"/>
                </a:solidFill>
                <a:latin typeface="Arial"/>
                <a:cs typeface="Arial"/>
              </a:rPr>
              <a:t>offset</a:t>
            </a:r>
            <a:r>
              <a:rPr dirty="0" sz="2200" spc="-85">
                <a:solidFill>
                  <a:srgbClr val="EFEFEF"/>
                </a:solidFill>
                <a:latin typeface="Arial"/>
                <a:cs typeface="Arial"/>
              </a:rPr>
              <a:t> </a:t>
            </a:r>
            <a:r>
              <a:rPr dirty="0" sz="2200" spc="-50">
                <a:solidFill>
                  <a:srgbClr val="E8E8E8"/>
                </a:solidFill>
                <a:latin typeface="Arial"/>
                <a:cs typeface="Arial"/>
              </a:rPr>
              <a:t>в</a:t>
            </a:r>
            <a:endParaRPr sz="22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670675" y="3314423"/>
            <a:ext cx="3529329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90">
                <a:solidFill>
                  <a:srgbClr val="FFFFFF"/>
                </a:solidFill>
                <a:latin typeface="Arial"/>
                <a:cs typeface="Arial"/>
              </a:rPr>
              <a:t>Групппрует</a:t>
            </a:r>
            <a:r>
              <a:rPr dirty="0" sz="20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E8E8E8"/>
                </a:solidFill>
                <a:latin typeface="Arial"/>
                <a:cs typeface="Arial"/>
              </a:rPr>
              <a:t>по</a:t>
            </a:r>
            <a:r>
              <a:rPr dirty="0" sz="2050" spc="140">
                <a:solidFill>
                  <a:srgbClr val="E8E8E8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ED9C31"/>
                </a:solidFill>
                <a:latin typeface="Arial"/>
                <a:cs typeface="Arial"/>
              </a:rPr>
              <a:t>!</a:t>
            </a:r>
            <a:r>
              <a:rPr dirty="0" sz="2050" spc="-180">
                <a:solidFill>
                  <a:srgbClr val="ED9C31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280A00"/>
                </a:solidFill>
                <a:latin typeface="Arial"/>
                <a:cs typeface="Arial"/>
              </a:rPr>
              <a:t>‹</a:t>
            </a:r>
            <a:r>
              <a:rPr dirty="0" sz="2050">
                <a:solidFill>
                  <a:srgbClr val="EBEBEB"/>
                </a:solidFill>
                <a:latin typeface="Arial"/>
                <a:cs typeface="Arial"/>
              </a:rPr>
              <a:t>!.</a:t>
            </a:r>
            <a:r>
              <a:rPr dirty="0" sz="2050" spc="-305">
                <a:solidFill>
                  <a:srgbClr val="EBEBEB"/>
                </a:solidFill>
                <a:latin typeface="Arial"/>
                <a:cs typeface="Arial"/>
              </a:rPr>
              <a:t> </a:t>
            </a:r>
            <a:r>
              <a:rPr dirty="0" sz="2050" spc="-55">
                <a:solidFill>
                  <a:srgbClr val="FFFFFF"/>
                </a:solidFill>
                <a:latin typeface="Arial"/>
                <a:cs typeface="Arial"/>
              </a:rPr>
              <a:t>Перекрытпе</a:t>
            </a:r>
            <a:endParaRPr sz="2050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5706" y="3785225"/>
            <a:ext cx="20080605" cy="274955"/>
          </a:xfrm>
          <a:custGeom>
            <a:avLst/>
            <a:gdLst/>
            <a:ahLst/>
            <a:cxnLst/>
            <a:rect l="l" t="t" r="r" b="b"/>
            <a:pathLst>
              <a:path w="20080605" h="274954">
                <a:moveTo>
                  <a:pt x="20080541" y="274860"/>
                </a:moveTo>
                <a:lnTo>
                  <a:pt x="0" y="274860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74860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1509079" y="3707081"/>
            <a:ext cx="473519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125">
                <a:solidFill>
                  <a:srgbClr val="FFFFFF"/>
                </a:solidFill>
                <a:latin typeface="Arial"/>
                <a:cs typeface="Arial"/>
              </a:rPr>
              <a:t>едиНицах</a:t>
            </a:r>
            <a:r>
              <a:rPr dirty="0" sz="20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60">
                <a:solidFill>
                  <a:srgbClr val="EBEBEB"/>
                </a:solidFill>
                <a:latin typeface="Arial"/>
                <a:cs typeface="Arial"/>
              </a:rPr>
              <a:t>по</a:t>
            </a:r>
            <a:r>
              <a:rPr dirty="0" sz="2050" spc="-130">
                <a:solidFill>
                  <a:srgbClr val="EBEBEB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362800"/>
                </a:solidFill>
                <a:latin typeface="Arial"/>
                <a:cs typeface="Arial"/>
              </a:rPr>
              <a:t>8</a:t>
            </a:r>
            <a:r>
              <a:rPr dirty="0" sz="2050" spc="-135">
                <a:solidFill>
                  <a:srgbClr val="362800"/>
                </a:solidFill>
                <a:latin typeface="Arial"/>
                <a:cs typeface="Arial"/>
              </a:rPr>
              <a:t> </a:t>
            </a:r>
            <a:r>
              <a:rPr dirty="0" sz="2050" spc="-70">
                <a:solidFill>
                  <a:srgbClr val="F2F2F2"/>
                </a:solidFill>
                <a:latin typeface="Arial"/>
                <a:cs typeface="Arial"/>
              </a:rPr>
              <a:t>байт.</a:t>
            </a:r>
            <a:r>
              <a:rPr dirty="0" sz="2050" spc="20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050" spc="-130">
                <a:solidFill>
                  <a:srgbClr val="F4F4F4"/>
                </a:solidFill>
                <a:latin typeface="Arial"/>
                <a:cs typeface="Arial"/>
              </a:rPr>
              <a:t>НеполНый</a:t>
            </a:r>
            <a:r>
              <a:rPr dirty="0" sz="2050" spc="30">
                <a:solidFill>
                  <a:srgbClr val="F4F4F4"/>
                </a:solidFill>
                <a:latin typeface="Arial"/>
                <a:cs typeface="Arial"/>
              </a:rPr>
              <a:t> </a:t>
            </a:r>
            <a:r>
              <a:rPr dirty="0" sz="2050" spc="-45">
                <a:solidFill>
                  <a:srgbClr val="F0F0F0"/>
                </a:solidFill>
                <a:latin typeface="Arial"/>
                <a:cs typeface="Arial"/>
              </a:rPr>
              <a:t>фрагмент</a:t>
            </a:r>
            <a:endParaRPr sz="20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666270" y="3707081"/>
            <a:ext cx="3728720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60">
                <a:solidFill>
                  <a:srgbClr val="FFFFFF"/>
                </a:solidFill>
                <a:latin typeface="Arial"/>
                <a:cs typeface="Arial"/>
              </a:rPr>
              <a:t>категорически</a:t>
            </a:r>
            <a:r>
              <a:rPr dirty="0" sz="2050" spc="-8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80">
                <a:solidFill>
                  <a:srgbClr val="EBEBEB"/>
                </a:solidFill>
                <a:latin typeface="Arial"/>
                <a:cs typeface="Arial"/>
              </a:rPr>
              <a:t>не</a:t>
            </a:r>
            <a:r>
              <a:rPr dirty="0" sz="2050" spc="-170">
                <a:solidFill>
                  <a:srgbClr val="EBEBEB"/>
                </a:solidFill>
                <a:latin typeface="Arial"/>
                <a:cs typeface="Arial"/>
              </a:rPr>
              <a:t> </a:t>
            </a:r>
            <a:r>
              <a:rPr dirty="0" sz="2050" spc="-60">
                <a:solidFill>
                  <a:srgbClr val="F0F0F0"/>
                </a:solidFill>
                <a:latin typeface="Arial"/>
                <a:cs typeface="Arial"/>
              </a:rPr>
              <a:t>допускается</a:t>
            </a:r>
            <a:r>
              <a:rPr dirty="0" sz="2050" spc="100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2050" spc="-730">
                <a:solidFill>
                  <a:srgbClr val="F2F2F2"/>
                </a:solidFill>
                <a:latin typeface="Arial"/>
                <a:cs typeface="Arial"/>
              </a:rPr>
              <a:t>—</a:t>
            </a:r>
            <a:endParaRPr sz="205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5706" y="4162176"/>
            <a:ext cx="20080605" cy="259715"/>
          </a:xfrm>
          <a:custGeom>
            <a:avLst/>
            <a:gdLst/>
            <a:ahLst/>
            <a:cxnLst/>
            <a:rect l="l" t="t" r="r" b="b"/>
            <a:pathLst>
              <a:path w="20080605" h="259714">
                <a:moveTo>
                  <a:pt x="20080541" y="259154"/>
                </a:moveTo>
                <a:lnTo>
                  <a:pt x="0" y="25915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59154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1505557" y="4084034"/>
            <a:ext cx="172783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254">
                <a:solidFill>
                  <a:srgbClr val="E6E6E6"/>
                </a:solidFill>
                <a:latin typeface="Arial"/>
                <a:cs typeface="Arial"/>
              </a:rPr>
              <a:t>Не</a:t>
            </a:r>
            <a:r>
              <a:rPr dirty="0" sz="2050" spc="-80">
                <a:solidFill>
                  <a:srgbClr val="E6E6E6"/>
                </a:solidFill>
                <a:latin typeface="Arial"/>
                <a:cs typeface="Arial"/>
              </a:rPr>
              <a:t> </a:t>
            </a:r>
            <a:r>
              <a:rPr dirty="0" sz="2050" spc="-70">
                <a:solidFill>
                  <a:srgbClr val="FFFFFF"/>
                </a:solidFill>
                <a:latin typeface="Arial"/>
                <a:cs typeface="Arial"/>
              </a:rPr>
              <a:t>собирается.</a:t>
            </a:r>
            <a:endParaRPr sz="205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667694" y="4100394"/>
            <a:ext cx="3278504" cy="32004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900">
                <a:solidFill>
                  <a:srgbClr val="FFFFFF"/>
                </a:solidFill>
                <a:latin typeface="Arial"/>
                <a:cs typeface="Arial"/>
              </a:rPr>
              <a:t>датаграмма</a:t>
            </a:r>
            <a:r>
              <a:rPr dirty="0" sz="1900" spc="10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900" spc="-10">
                <a:solidFill>
                  <a:srgbClr val="FFFFFF"/>
                </a:solidFill>
                <a:latin typeface="Arial"/>
                <a:cs typeface="Arial"/>
              </a:rPr>
              <a:t>отбрасывается.</a:t>
            </a:r>
            <a:endParaRPr sz="19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5706" y="5936991"/>
            <a:ext cx="20080605" cy="259715"/>
          </a:xfrm>
          <a:custGeom>
            <a:avLst/>
            <a:gdLst/>
            <a:ahLst/>
            <a:cxnLst/>
            <a:rect l="l" t="t" r="r" b="b"/>
            <a:pathLst>
              <a:path w="20080605" h="259714">
                <a:moveTo>
                  <a:pt x="20080541" y="259154"/>
                </a:moveTo>
                <a:lnTo>
                  <a:pt x="0" y="25915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59154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15706" y="6471007"/>
            <a:ext cx="20088860" cy="220345"/>
            <a:chOff x="15706" y="6471007"/>
            <a:chExt cx="20088860" cy="220345"/>
          </a:xfrm>
        </p:grpSpPr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970778" y="6478860"/>
              <a:ext cx="4476303" cy="204182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5706" y="6471007"/>
              <a:ext cx="20088393" cy="219888"/>
            </a:xfrm>
            <a:prstGeom prst="rect">
              <a:avLst/>
            </a:prstGeom>
          </p:spPr>
        </p:pic>
      </p:grpSp>
      <p:sp>
        <p:nvSpPr>
          <p:cNvPr id="23" name="object 23"/>
          <p:cNvSpPr/>
          <p:nvPr/>
        </p:nvSpPr>
        <p:spPr>
          <a:xfrm>
            <a:off x="15706" y="6769427"/>
            <a:ext cx="20080605" cy="212090"/>
          </a:xfrm>
          <a:custGeom>
            <a:avLst/>
            <a:gdLst/>
            <a:ahLst/>
            <a:cxnLst/>
            <a:rect l="l" t="t" r="r" b="b"/>
            <a:pathLst>
              <a:path w="20080605" h="212090">
                <a:moveTo>
                  <a:pt x="20080541" y="212035"/>
                </a:moveTo>
                <a:lnTo>
                  <a:pt x="0" y="21203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12035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13955887" y="5858848"/>
            <a:ext cx="4494530" cy="1134110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algn="ctr" marR="9525">
              <a:lnSpc>
                <a:spcPct val="100000"/>
              </a:lnSpc>
              <a:spcBef>
                <a:spcPts val="110"/>
              </a:spcBef>
            </a:pPr>
            <a:r>
              <a:rPr dirty="0" sz="2050" spc="-25">
                <a:solidFill>
                  <a:srgbClr val="FFFFFF"/>
                </a:solidFill>
                <a:latin typeface="Arial"/>
                <a:cs typeface="Arial"/>
              </a:rPr>
              <a:t>zeczoa</a:t>
            </a:r>
            <a:r>
              <a:rPr dirty="0" sz="2050" spc="-9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10">
                <a:solidFill>
                  <a:srgbClr val="FFFFFF"/>
                </a:solidFill>
                <a:latin typeface="Arial"/>
                <a:cs typeface="Arial"/>
              </a:rPr>
              <a:t>ØparMenzaljnu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39"/>
              </a:spcBef>
            </a:pPr>
            <a:endParaRPr sz="205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dirty="0" sz="1800" spc="-35">
                <a:solidFill>
                  <a:srgbClr val="B5B5B5"/>
                </a:solidFill>
                <a:latin typeface="Consolas"/>
                <a:cs typeface="Consolas"/>
              </a:rPr>
              <a:t>ueyraqbeaютcя</a:t>
            </a:r>
            <a:r>
              <a:rPr dirty="0" sz="1800" spc="-130">
                <a:solidFill>
                  <a:srgbClr val="B5B5B5"/>
                </a:solidFill>
                <a:latin typeface="Consolas"/>
                <a:cs typeface="Consolas"/>
              </a:rPr>
              <a:t> </a:t>
            </a:r>
            <a:r>
              <a:rPr dirty="0" sz="1800" spc="-50">
                <a:solidFill>
                  <a:srgbClr val="B5B5B5"/>
                </a:solidFill>
                <a:latin typeface="Consolas"/>
                <a:cs typeface="Consolas"/>
              </a:rPr>
              <a:t>uoкaneüoxooiкaw‹</a:t>
            </a:r>
            <a:r>
              <a:rPr dirty="0" sz="1800" spc="-200">
                <a:solidFill>
                  <a:srgbClr val="B5B5B5"/>
                </a:solidFill>
                <a:latin typeface="Consolas"/>
                <a:cs typeface="Consolas"/>
              </a:rPr>
              <a:t> </a:t>
            </a:r>
            <a:r>
              <a:rPr dirty="0" sz="1800" spc="-10">
                <a:solidFill>
                  <a:srgbClr val="B5B5B5"/>
                </a:solidFill>
                <a:latin typeface="Consolas"/>
                <a:cs typeface="Consolas"/>
              </a:rPr>
              <a:t>oŸ6aùт</a:t>
            </a:r>
            <a:endParaRPr sz="1800">
              <a:latin typeface="Consolas"/>
              <a:cs typeface="Consolas"/>
            </a:endParaRPr>
          </a:p>
        </p:txBody>
      </p:sp>
      <p:pic>
        <p:nvPicPr>
          <p:cNvPr id="25" name="object 2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706" y="7099260"/>
            <a:ext cx="20088393" cy="1570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910967"/>
            <a:ext cx="20080605" cy="180975"/>
          </a:xfrm>
          <a:custGeom>
            <a:avLst/>
            <a:gdLst/>
            <a:ahLst/>
            <a:cxnLst/>
            <a:rect l="l" t="t" r="r" b="b"/>
            <a:pathLst>
              <a:path w="20080605" h="180975">
                <a:moveTo>
                  <a:pt x="20080541" y="180622"/>
                </a:moveTo>
                <a:lnTo>
                  <a:pt x="0" y="180622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80622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43102" y="850493"/>
            <a:ext cx="1487805" cy="2806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650" spc="-220">
                <a:solidFill>
                  <a:srgbClr val="A1A1A1"/>
                </a:solidFill>
                <a:latin typeface="Arial"/>
                <a:cs typeface="Arial"/>
              </a:rPr>
              <a:t>P</a:t>
            </a:r>
            <a:r>
              <a:rPr dirty="0" sz="1650" spc="-110">
                <a:solidFill>
                  <a:srgbClr val="A1A1A1"/>
                </a:solidFill>
                <a:latin typeface="Arial"/>
                <a:cs typeface="Arial"/>
              </a:rPr>
              <a:t> </a:t>
            </a:r>
            <a:r>
              <a:rPr dirty="0" sz="1650" spc="-355">
                <a:solidFill>
                  <a:srgbClr val="525B69"/>
                </a:solidFill>
                <a:latin typeface="Arial"/>
                <a:cs typeface="Arial"/>
              </a:rPr>
              <a:t>E</a:t>
            </a:r>
            <a:r>
              <a:rPr dirty="0" sz="1650" spc="-30">
                <a:solidFill>
                  <a:srgbClr val="525B69"/>
                </a:solidFill>
                <a:latin typeface="Arial"/>
                <a:cs typeface="Arial"/>
              </a:rPr>
              <a:t> </a:t>
            </a:r>
            <a:r>
              <a:rPr dirty="0" sz="1650" spc="-60">
                <a:solidFill>
                  <a:srgbClr val="B1B1B1"/>
                </a:solidFill>
                <a:latin typeface="Arial"/>
                <a:cs typeface="Arial"/>
              </a:rPr>
              <a:t>3</a:t>
            </a:r>
            <a:r>
              <a:rPr dirty="0" sz="1650" spc="-80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1650" spc="-365">
                <a:solidFill>
                  <a:srgbClr val="A8A8A8"/>
                </a:solidFill>
                <a:latin typeface="Arial"/>
                <a:cs typeface="Arial"/>
              </a:rPr>
              <a:t>Y</a:t>
            </a:r>
            <a:r>
              <a:rPr dirty="0" sz="1650" spc="-75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1650" spc="-45">
                <a:solidFill>
                  <a:srgbClr val="A5A5A5"/>
                </a:solidFill>
                <a:latin typeface="Arial"/>
                <a:cs typeface="Arial"/>
              </a:rPr>
              <a:t>/!</a:t>
            </a:r>
            <a:r>
              <a:rPr dirty="0" sz="1650" spc="-185">
                <a:solidFill>
                  <a:srgbClr val="A5A5A5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ACACAC"/>
                </a:solidFill>
                <a:latin typeface="Arial"/>
                <a:cs typeface="Arial"/>
              </a:rPr>
              <a:t>b</a:t>
            </a:r>
            <a:r>
              <a:rPr dirty="0" sz="1650" spc="-114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1650" spc="-250">
                <a:solidFill>
                  <a:srgbClr val="9AA3B3"/>
                </a:solidFill>
                <a:latin typeface="Arial"/>
                <a:cs typeface="Arial"/>
              </a:rPr>
              <a:t>T</a:t>
            </a:r>
            <a:r>
              <a:rPr dirty="0" sz="1650" spc="-15">
                <a:solidFill>
                  <a:srgbClr val="9AA3B3"/>
                </a:solidFill>
                <a:latin typeface="Arial"/>
                <a:cs typeface="Arial"/>
              </a:rPr>
              <a:t> </a:t>
            </a:r>
            <a:r>
              <a:rPr dirty="0" sz="1650" spc="-400">
                <a:solidFill>
                  <a:srgbClr val="959EAC"/>
                </a:solidFill>
                <a:latin typeface="Arial"/>
                <a:cs typeface="Arial"/>
              </a:rPr>
              <a:t>A</a:t>
            </a:r>
            <a:r>
              <a:rPr dirty="0" sz="1650" spc="-40">
                <a:solidFill>
                  <a:srgbClr val="959EAC"/>
                </a:solidFill>
                <a:latin typeface="Arial"/>
                <a:cs typeface="Arial"/>
              </a:rPr>
              <a:t> </a:t>
            </a:r>
            <a:r>
              <a:rPr dirty="0" sz="1650" spc="-250">
                <a:solidFill>
                  <a:srgbClr val="95A1B1"/>
                </a:solidFill>
                <a:latin typeface="Arial"/>
                <a:cs typeface="Arial"/>
              </a:rPr>
              <a:t>T</a:t>
            </a:r>
            <a:r>
              <a:rPr dirty="0" sz="1650" spc="-20">
                <a:solidFill>
                  <a:srgbClr val="95A1B1"/>
                </a:solidFill>
                <a:latin typeface="Arial"/>
                <a:cs typeface="Arial"/>
              </a:rPr>
              <a:t> </a:t>
            </a:r>
            <a:r>
              <a:rPr dirty="0" sz="1650" spc="-320">
                <a:solidFill>
                  <a:srgbClr val="ACACAC"/>
                </a:solidFill>
                <a:latin typeface="Arial"/>
                <a:cs typeface="Arial"/>
              </a:rPr>
              <a:t>ŁI</a:t>
            </a:r>
            <a:endParaRPr sz="16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5706" y="1272212"/>
            <a:ext cx="20080605" cy="558165"/>
          </a:xfrm>
          <a:custGeom>
            <a:avLst/>
            <a:gdLst/>
            <a:ahLst/>
            <a:cxnLst/>
            <a:rect l="l" t="t" r="r" b="b"/>
            <a:pathLst>
              <a:path w="20080605" h="558164">
                <a:moveTo>
                  <a:pt x="20080541" y="557574"/>
                </a:moveTo>
                <a:lnTo>
                  <a:pt x="0" y="55757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57574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6350">
              <a:lnSpc>
                <a:spcPct val="100000"/>
              </a:lnSpc>
              <a:spcBef>
                <a:spcPts val="105"/>
              </a:spcBef>
            </a:pPr>
            <a:r>
              <a:rPr dirty="0"/>
              <a:t>Набор</a:t>
            </a:r>
            <a:r>
              <a:rPr dirty="0" spc="-355"/>
              <a:t> </a:t>
            </a:r>
            <a:r>
              <a:rPr dirty="0" spc="65"/>
              <a:t>организаторов</a:t>
            </a:r>
            <a:r>
              <a:rPr dirty="0" spc="-105"/>
              <a:t> </a:t>
            </a:r>
            <a:r>
              <a:rPr dirty="0"/>
              <a:t>разобран</a:t>
            </a:r>
            <a:r>
              <a:rPr dirty="0" spc="-125"/>
              <a:t> </a:t>
            </a:r>
            <a:r>
              <a:rPr dirty="0" spc="60"/>
              <a:t>целиком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15706" y="3800931"/>
            <a:ext cx="20080605" cy="746125"/>
            <a:chOff x="15706" y="3800931"/>
            <a:chExt cx="20080605" cy="74612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483974" y="3965848"/>
              <a:ext cx="400511" cy="38480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30024" y="4327093"/>
              <a:ext cx="3541776" cy="219888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5706" y="3800931"/>
              <a:ext cx="20080605" cy="746125"/>
            </a:xfrm>
            <a:custGeom>
              <a:avLst/>
              <a:gdLst/>
              <a:ahLst/>
              <a:cxnLst/>
              <a:rect l="l" t="t" r="r" b="b"/>
              <a:pathLst>
                <a:path w="20080605" h="746125">
                  <a:moveTo>
                    <a:pt x="20080541" y="746050"/>
                  </a:moveTo>
                  <a:lnTo>
                    <a:pt x="0" y="746050"/>
                  </a:lnTo>
                  <a:lnTo>
                    <a:pt x="0" y="0"/>
                  </a:lnTo>
                  <a:lnTo>
                    <a:pt x="20080541" y="0"/>
                  </a:lnTo>
                  <a:lnTo>
                    <a:pt x="20080541" y="746050"/>
                  </a:lnTo>
                  <a:close/>
                </a:path>
              </a:pathLst>
            </a:custGeom>
            <a:solidFill>
              <a:srgbClr val="1113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11172922" y="3586012"/>
            <a:ext cx="1109345" cy="6737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250" spc="-310">
                <a:solidFill>
                  <a:srgbClr val="FFFFFF"/>
                </a:solidFill>
                <a:latin typeface="Courier New"/>
                <a:cs typeface="Courier New"/>
              </a:rPr>
              <a:t>12</a:t>
            </a:r>
            <a:r>
              <a:rPr dirty="0" sz="4250" spc="-680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4250" spc="-434">
                <a:solidFill>
                  <a:srgbClr val="FFFFFF"/>
                </a:solidFill>
                <a:latin typeface="Courier New"/>
                <a:cs typeface="Courier New"/>
              </a:rPr>
              <a:t>c</a:t>
            </a:r>
            <a:endParaRPr sz="4250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5706" y="5167381"/>
            <a:ext cx="20080605" cy="887730"/>
            <a:chOff x="15706" y="5167381"/>
            <a:chExt cx="20080605" cy="88773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31786" y="5897726"/>
              <a:ext cx="706784" cy="14921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363528" y="5724956"/>
              <a:ext cx="1821934" cy="329832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706" y="5167381"/>
              <a:ext cx="20080605" cy="887730"/>
            </a:xfrm>
            <a:custGeom>
              <a:avLst/>
              <a:gdLst/>
              <a:ahLst/>
              <a:cxnLst/>
              <a:rect l="l" t="t" r="r" b="b"/>
              <a:pathLst>
                <a:path w="20080605" h="887729">
                  <a:moveTo>
                    <a:pt x="20080541" y="887407"/>
                  </a:moveTo>
                  <a:lnTo>
                    <a:pt x="0" y="887407"/>
                  </a:lnTo>
                  <a:lnTo>
                    <a:pt x="0" y="0"/>
                  </a:lnTo>
                  <a:lnTo>
                    <a:pt x="20080541" y="0"/>
                  </a:lnTo>
                  <a:lnTo>
                    <a:pt x="20080541" y="887407"/>
                  </a:lnTo>
                  <a:close/>
                </a:path>
              </a:pathLst>
            </a:custGeom>
            <a:solidFill>
              <a:srgbClr val="11131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4880680" y="4913197"/>
            <a:ext cx="787400" cy="90931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800" spc="-290">
                <a:solidFill>
                  <a:srgbClr val="FFFFFF"/>
                </a:solidFill>
                <a:latin typeface="Arial"/>
                <a:cs typeface="Arial"/>
              </a:rPr>
              <a:t>90</a:t>
            </a:r>
            <a:endParaRPr sz="58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5706" y="6219706"/>
            <a:ext cx="20080605" cy="212090"/>
          </a:xfrm>
          <a:custGeom>
            <a:avLst/>
            <a:gdLst/>
            <a:ahLst/>
            <a:cxnLst/>
            <a:rect l="l" t="t" r="r" b="b"/>
            <a:pathLst>
              <a:path w="20080605" h="212089">
                <a:moveTo>
                  <a:pt x="20080541" y="212035"/>
                </a:moveTo>
                <a:lnTo>
                  <a:pt x="0" y="212035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12035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11333378" y="6158577"/>
            <a:ext cx="3416300" cy="3003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370">
                <a:solidFill>
                  <a:srgbClr val="AEAEAE"/>
                </a:solidFill>
                <a:latin typeface="Arial"/>
                <a:cs typeface="Arial"/>
              </a:rPr>
              <a:t>NOK</a:t>
            </a:r>
            <a:r>
              <a:rPr dirty="0" sz="1800" spc="-50">
                <a:solidFill>
                  <a:srgbClr val="AEAEAE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B3B3B3"/>
                </a:solidFill>
                <a:latin typeface="Arial"/>
                <a:cs typeface="Arial"/>
              </a:rPr>
              <a:t>natz+u</a:t>
            </a:r>
            <a:r>
              <a:rPr dirty="0" sz="1800" spc="-150">
                <a:solidFill>
                  <a:srgbClr val="B3B3B3"/>
                </a:solidFill>
                <a:latin typeface="Arial"/>
                <a:cs typeface="Arial"/>
              </a:rPr>
              <a:t> </a:t>
            </a:r>
            <a:r>
              <a:rPr dirty="0" sz="1800" spc="-55">
                <a:solidFill>
                  <a:srgbClr val="ACACAC"/>
                </a:solidFill>
                <a:latin typeface="Arial"/>
                <a:cs typeface="Arial"/>
              </a:rPr>
              <a:t>(9%</a:t>
            </a:r>
            <a:r>
              <a:rPr dirty="0" sz="1800" spc="-70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1800" spc="65">
                <a:solidFill>
                  <a:srgbClr val="97A3B1"/>
                </a:solidFill>
                <a:latin typeface="Arial"/>
                <a:cs typeface="Arial"/>
              </a:rPr>
              <a:t>oï</a:t>
            </a:r>
            <a:r>
              <a:rPr dirty="0" sz="1800" spc="-145">
                <a:solidFill>
                  <a:srgbClr val="97A3B1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AFAFAF"/>
                </a:solidFill>
                <a:latin typeface="Arial"/>
                <a:cs typeface="Arial"/>
              </a:rPr>
              <a:t>6iop+eïa</a:t>
            </a:r>
            <a:r>
              <a:rPr dirty="0" sz="1800" spc="5">
                <a:solidFill>
                  <a:srgbClr val="AFAFAF"/>
                </a:solidFill>
                <a:latin typeface="Arial"/>
                <a:cs typeface="Arial"/>
              </a:rPr>
              <a:t> </a:t>
            </a:r>
            <a:r>
              <a:rPr dirty="0" sz="1800" spc="-425">
                <a:solidFill>
                  <a:srgbClr val="AEAEAE"/>
                </a:solidFill>
                <a:latin typeface="Arial"/>
                <a:cs typeface="Arial"/>
              </a:rPr>
              <a:t>*+</a:t>
            </a:r>
            <a:r>
              <a:rPr dirty="0" sz="1800" spc="-120">
                <a:solidFill>
                  <a:srgbClr val="AEAEAE"/>
                </a:solidFill>
                <a:latin typeface="Arial"/>
                <a:cs typeface="Arial"/>
              </a:rPr>
              <a:t> </a:t>
            </a:r>
            <a:r>
              <a:rPr dirty="0" sz="1800" spc="-355">
                <a:solidFill>
                  <a:srgbClr val="AAAAAA"/>
                </a:solidFill>
                <a:latin typeface="Arial"/>
                <a:cs typeface="Arial"/>
              </a:rPr>
              <a:t>FH</a:t>
            </a:r>
            <a:r>
              <a:rPr dirty="0" sz="1800" spc="-254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677782"/>
                </a:solidFill>
                <a:latin typeface="Arial"/>
                <a:cs typeface="Arial"/>
              </a:rPr>
              <a:t>6)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5706" y="7397680"/>
            <a:ext cx="20088860" cy="141605"/>
            <a:chOff x="15706" y="7397680"/>
            <a:chExt cx="20088860" cy="141605"/>
          </a:xfrm>
        </p:grpSpPr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706" y="7397680"/>
              <a:ext cx="20088393" cy="141356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706" y="7397680"/>
              <a:ext cx="20088393" cy="141356"/>
            </a:xfrm>
            <a:prstGeom prst="rect">
              <a:avLst/>
            </a:prstGeom>
          </p:spPr>
        </p:pic>
      </p:grpSp>
      <p:sp>
        <p:nvSpPr>
          <p:cNvPr id="21" name="object 21"/>
          <p:cNvSpPr/>
          <p:nvPr/>
        </p:nvSpPr>
        <p:spPr>
          <a:xfrm>
            <a:off x="15706" y="7601863"/>
            <a:ext cx="20080605" cy="353695"/>
          </a:xfrm>
          <a:custGeom>
            <a:avLst/>
            <a:gdLst/>
            <a:ahLst/>
            <a:cxnLst/>
            <a:rect l="l" t="t" r="r" b="b"/>
            <a:pathLst>
              <a:path w="20080605" h="353695">
                <a:moveTo>
                  <a:pt x="20080541" y="353392"/>
                </a:moveTo>
                <a:lnTo>
                  <a:pt x="0" y="353392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353392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4546520" y="7555132"/>
            <a:ext cx="42735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110">
                <a:solidFill>
                  <a:srgbClr val="F2F2F2"/>
                </a:solidFill>
                <a:latin typeface="Arial"/>
                <a:cs typeface="Arial"/>
              </a:rPr>
              <a:t>Bce</a:t>
            </a:r>
            <a:endParaRPr sz="205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367202" y="7378436"/>
            <a:ext cx="1908810" cy="69342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4350" spc="-475">
                <a:solidFill>
                  <a:srgbClr val="FFFFFF"/>
                </a:solidFill>
                <a:latin typeface="Courier New"/>
                <a:cs typeface="Courier New"/>
              </a:rPr>
              <a:t>250</a:t>
            </a:r>
            <a:r>
              <a:rPr dirty="0" sz="4350" spc="-790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4350" spc="-475">
                <a:solidFill>
                  <a:srgbClr val="FFFFFF"/>
                </a:solidFill>
                <a:latin typeface="Courier New"/>
                <a:cs typeface="Courier New"/>
              </a:rPr>
              <a:t>000</a:t>
            </a:r>
            <a:endParaRPr sz="4350">
              <a:latin typeface="Courier New"/>
              <a:cs typeface="Courier New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5706" y="8120171"/>
            <a:ext cx="20080605" cy="196850"/>
          </a:xfrm>
          <a:custGeom>
            <a:avLst/>
            <a:gdLst/>
            <a:ahLst/>
            <a:cxnLst/>
            <a:rect l="l" t="t" r="r" b="b"/>
            <a:pathLst>
              <a:path w="20080605" h="196850">
                <a:moveTo>
                  <a:pt x="20080541" y="196329"/>
                </a:moveTo>
                <a:lnTo>
                  <a:pt x="0" y="196329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196329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11410967" y="8059043"/>
            <a:ext cx="2402205" cy="3003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160">
                <a:solidFill>
                  <a:srgbClr val="AFAFAF"/>
                </a:solidFill>
                <a:latin typeface="Courier New"/>
                <a:cs typeface="Courier New"/>
              </a:rPr>
              <a:t>MaKe</a:t>
            </a:r>
            <a:r>
              <a:rPr dirty="0" sz="1800" spc="-315">
                <a:solidFill>
                  <a:srgbClr val="AFAFAF"/>
                </a:solidFill>
                <a:latin typeface="Courier New"/>
                <a:cs typeface="Courier New"/>
              </a:rPr>
              <a:t> </a:t>
            </a:r>
            <a:r>
              <a:rPr dirty="0" sz="1800" spc="-60">
                <a:solidFill>
                  <a:srgbClr val="AFAFAF"/>
                </a:solidFill>
                <a:latin typeface="Courier New"/>
                <a:cs typeface="Courier New"/>
              </a:rPr>
              <a:t>oøe40O0ceccuFx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1287918"/>
            <a:ext cx="20080605" cy="542290"/>
          </a:xfrm>
          <a:custGeom>
            <a:avLst/>
            <a:gdLst/>
            <a:ahLst/>
            <a:cxnLst/>
            <a:rect l="l" t="t" r="r" b="b"/>
            <a:pathLst>
              <a:path w="20080605" h="542289">
                <a:moveTo>
                  <a:pt x="20080541" y="541868"/>
                </a:moveTo>
                <a:lnTo>
                  <a:pt x="0" y="541868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41868"/>
                </a:lnTo>
                <a:close/>
              </a:path>
            </a:pathLst>
          </a:custGeom>
          <a:solidFill>
            <a:srgbClr val="13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983935" y="1086088"/>
            <a:ext cx="12074525" cy="751840"/>
          </a:xfrm>
          <a:prstGeom prst="rect"/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4750" spc="-85">
                <a:latin typeface="Trebuchet MS"/>
                <a:cs typeface="Trebuchet MS"/>
              </a:rPr>
              <a:t>Демонстрация:</a:t>
            </a:r>
            <a:r>
              <a:rPr dirty="0" sz="4750" spc="-160">
                <a:latin typeface="Trebuchet MS"/>
                <a:cs typeface="Trebuchet MS"/>
              </a:rPr>
              <a:t> </a:t>
            </a:r>
            <a:r>
              <a:rPr dirty="0" sz="4750" spc="-120">
                <a:latin typeface="Trebuchet MS"/>
                <a:cs typeface="Trebuchet MS"/>
              </a:rPr>
              <a:t>живое</a:t>
            </a:r>
            <a:r>
              <a:rPr dirty="0" sz="4750" spc="-310">
                <a:latin typeface="Trebuchet MS"/>
                <a:cs typeface="Trebuchet MS"/>
              </a:rPr>
              <a:t> </a:t>
            </a:r>
            <a:r>
              <a:rPr dirty="0" sz="4750" spc="-114">
                <a:latin typeface="Trebuchet MS"/>
                <a:cs typeface="Trebuchet MS"/>
              </a:rPr>
              <a:t>окно</a:t>
            </a:r>
            <a:r>
              <a:rPr dirty="0" sz="4750" spc="-520">
                <a:latin typeface="Trebuchet MS"/>
                <a:cs typeface="Trebuchet MS"/>
              </a:rPr>
              <a:t> </a:t>
            </a:r>
            <a:r>
              <a:rPr dirty="0" sz="4750" spc="-60">
                <a:latin typeface="Trebuchet MS"/>
                <a:cs typeface="Trebuchet MS"/>
              </a:rPr>
              <a:t>и</a:t>
            </a:r>
            <a:r>
              <a:rPr dirty="0" sz="4750" spc="-735">
                <a:latin typeface="Trebuchet MS"/>
                <a:cs typeface="Trebuchet MS"/>
              </a:rPr>
              <a:t> </a:t>
            </a:r>
            <a:r>
              <a:rPr dirty="0" sz="4750" spc="-10">
                <a:latin typeface="Trebuchet MS"/>
                <a:cs typeface="Trebuchet MS"/>
              </a:rPr>
              <a:t>запись</a:t>
            </a:r>
            <a:r>
              <a:rPr dirty="0" sz="4750" spc="-530">
                <a:latin typeface="Trebuchet MS"/>
                <a:cs typeface="Trebuchet MS"/>
              </a:rPr>
              <a:t> </a:t>
            </a:r>
            <a:r>
              <a:rPr dirty="0" sz="4750" spc="-10">
                <a:latin typeface="Trebuchet MS"/>
                <a:cs typeface="Trebuchet MS"/>
              </a:rPr>
              <a:t>прогона</a:t>
            </a:r>
            <a:endParaRPr sz="475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5706" y="5057437"/>
            <a:ext cx="20088860" cy="141605"/>
            <a:chOff x="15706" y="5057437"/>
            <a:chExt cx="20088860" cy="14160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706" y="5057437"/>
              <a:ext cx="20088393" cy="14135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706" y="5057437"/>
              <a:ext cx="20088393" cy="141356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15706" y="5889873"/>
            <a:ext cx="20080605" cy="306705"/>
          </a:xfrm>
          <a:custGeom>
            <a:avLst/>
            <a:gdLst/>
            <a:ahLst/>
            <a:cxnLst/>
            <a:rect l="l" t="t" r="r" b="b"/>
            <a:pathLst>
              <a:path w="20080605" h="306704">
                <a:moveTo>
                  <a:pt x="20080541" y="306273"/>
                </a:moveTo>
                <a:lnTo>
                  <a:pt x="0" y="306273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306273"/>
                </a:lnTo>
                <a:close/>
              </a:path>
            </a:pathLst>
          </a:custGeom>
          <a:solidFill>
            <a:srgbClr val="11131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2260766" y="5809766"/>
            <a:ext cx="3276600" cy="39878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2450" spc="80">
                <a:solidFill>
                  <a:srgbClr val="FFFFFF"/>
                </a:solidFill>
                <a:latin typeface="Arial"/>
                <a:cs typeface="Arial"/>
              </a:rPr>
              <a:t>Единое</a:t>
            </a:r>
            <a:r>
              <a:rPr dirty="0" sz="245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450" spc="110">
                <a:solidFill>
                  <a:srgbClr val="FFFFFF"/>
                </a:solidFill>
                <a:latin typeface="Arial"/>
                <a:cs typeface="Arial"/>
              </a:rPr>
              <a:t>окно</a:t>
            </a:r>
            <a:r>
              <a:rPr dirty="0" sz="2450" spc="-10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450" spc="-10">
                <a:solidFill>
                  <a:srgbClr val="FFFFFF"/>
                </a:solidFill>
                <a:latin typeface="Arial"/>
                <a:cs typeface="Arial"/>
              </a:rPr>
              <a:t>анализа</a:t>
            </a:r>
            <a:endParaRPr sz="245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5706" y="6895078"/>
            <a:ext cx="20088860" cy="47625"/>
            <a:chOff x="15706" y="6895078"/>
            <a:chExt cx="20088860" cy="47625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5706" y="6895078"/>
              <a:ext cx="20088393" cy="4711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706" y="6895078"/>
              <a:ext cx="20088393" cy="4711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95282" y="1086088"/>
            <a:ext cx="7896225" cy="751840"/>
          </a:xfrm>
          <a:prstGeom prst="rect"/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4750" spc="-10">
                <a:latin typeface="Trebuchet MS"/>
                <a:cs typeface="Trebuchet MS"/>
              </a:rPr>
              <a:t>Границы</a:t>
            </a:r>
            <a:r>
              <a:rPr dirty="0" sz="4750" spc="-550">
                <a:latin typeface="Trebuchet MS"/>
                <a:cs typeface="Trebuchet MS"/>
              </a:rPr>
              <a:t> </a:t>
            </a:r>
            <a:r>
              <a:rPr dirty="0" sz="4750" spc="-95">
                <a:latin typeface="Trebuchet MS"/>
                <a:cs typeface="Trebuchet MS"/>
              </a:rPr>
              <a:t>применения</a:t>
            </a:r>
            <a:r>
              <a:rPr dirty="0" sz="4750" spc="-315">
                <a:latin typeface="Trebuchet MS"/>
                <a:cs typeface="Trebuchet MS"/>
              </a:rPr>
              <a:t> </a:t>
            </a:r>
            <a:r>
              <a:rPr dirty="0" sz="4750" spc="-60">
                <a:latin typeface="Trebuchet MS"/>
                <a:cs typeface="Trebuchet MS"/>
              </a:rPr>
              <a:t>и</a:t>
            </a:r>
            <a:r>
              <a:rPr dirty="0" sz="4750" spc="-730">
                <a:latin typeface="Trebuchet MS"/>
                <a:cs typeface="Trebuchet MS"/>
              </a:rPr>
              <a:t> </a:t>
            </a:r>
            <a:r>
              <a:rPr dirty="0" sz="4750" spc="-40">
                <a:latin typeface="Trebuchet MS"/>
                <a:cs typeface="Trebuchet MS"/>
              </a:rPr>
              <a:t>итоги</a:t>
            </a:r>
            <a:endParaRPr sz="4750">
              <a:latin typeface="Trebuchet MS"/>
              <a:cs typeface="Trebuchet MS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2764313"/>
            <a:ext cx="20104100" cy="188595"/>
            <a:chOff x="0" y="2764313"/>
            <a:chExt cx="20104100" cy="18859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764313"/>
              <a:ext cx="20104100" cy="188475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764313"/>
              <a:ext cx="20104100" cy="188475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1963291" y="3376860"/>
            <a:ext cx="6918959" cy="274955"/>
          </a:xfrm>
          <a:custGeom>
            <a:avLst/>
            <a:gdLst/>
            <a:ahLst/>
            <a:cxnLst/>
            <a:rect l="l" t="t" r="r" b="b"/>
            <a:pathLst>
              <a:path w="6918959" h="274954">
                <a:moveTo>
                  <a:pt x="6918637" y="274860"/>
                </a:moveTo>
                <a:lnTo>
                  <a:pt x="0" y="274860"/>
                </a:lnTo>
                <a:lnTo>
                  <a:pt x="0" y="0"/>
                </a:lnTo>
                <a:lnTo>
                  <a:pt x="6918637" y="0"/>
                </a:lnTo>
                <a:lnTo>
                  <a:pt x="6918637" y="274860"/>
                </a:lnTo>
                <a:close/>
              </a:path>
            </a:pathLst>
          </a:custGeom>
          <a:solidFill>
            <a:srgbClr val="181C2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953257" y="3298717"/>
            <a:ext cx="6925309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90">
                <a:solidFill>
                  <a:srgbClr val="F2F2F2"/>
                </a:solidFill>
                <a:latin typeface="Arial"/>
                <a:cs typeface="Arial"/>
              </a:rPr>
              <a:t>Смысл</a:t>
            </a:r>
            <a:r>
              <a:rPr dirty="0" sz="2050" spc="-100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050" spc="-80">
                <a:solidFill>
                  <a:srgbClr val="EBEBEB"/>
                </a:solidFill>
                <a:latin typeface="Arial"/>
                <a:cs typeface="Arial"/>
              </a:rPr>
              <a:t>байта</a:t>
            </a:r>
            <a:r>
              <a:rPr dirty="0" sz="2050" spc="-65">
                <a:solidFill>
                  <a:srgbClr val="EBEBEB"/>
                </a:solidFill>
                <a:latin typeface="Arial"/>
                <a:cs typeface="Arial"/>
              </a:rPr>
              <a:t> </a:t>
            </a:r>
            <a:r>
              <a:rPr dirty="0" sz="2050" spc="-20">
                <a:solidFill>
                  <a:srgbClr val="F4F4F4"/>
                </a:solidFill>
                <a:latin typeface="Arial"/>
                <a:cs typeface="Arial"/>
              </a:rPr>
              <a:t>фгагов</a:t>
            </a:r>
            <a:r>
              <a:rPr dirty="0" sz="2050" spc="-130">
                <a:solidFill>
                  <a:srgbClr val="F4F4F4"/>
                </a:solidFill>
                <a:latin typeface="Arial"/>
                <a:cs typeface="Arial"/>
              </a:rPr>
              <a:t> </a:t>
            </a:r>
            <a:r>
              <a:rPr dirty="0" sz="2050" spc="-254">
                <a:solidFill>
                  <a:srgbClr val="E9E9E9"/>
                </a:solidFill>
                <a:latin typeface="Arial"/>
                <a:cs typeface="Arial"/>
              </a:rPr>
              <a:t>Не</a:t>
            </a:r>
            <a:r>
              <a:rPr dirty="0" sz="2050" spc="-40">
                <a:solidFill>
                  <a:srgbClr val="E9E9E9"/>
                </a:solidFill>
                <a:latin typeface="Arial"/>
                <a:cs typeface="Arial"/>
              </a:rPr>
              <a:t> </a:t>
            </a:r>
            <a:r>
              <a:rPr dirty="0" sz="2050" spc="-100">
                <a:solidFill>
                  <a:srgbClr val="FFFFFF"/>
                </a:solidFill>
                <a:latin typeface="Arial"/>
                <a:cs typeface="Arial"/>
              </a:rPr>
              <a:t>устаНовлеп:</a:t>
            </a:r>
            <a:r>
              <a:rPr dirty="0" sz="2050" spc="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40">
                <a:solidFill>
                  <a:srgbClr val="F0F0F0"/>
                </a:solidFill>
                <a:latin typeface="Arial"/>
                <a:cs typeface="Arial"/>
              </a:rPr>
              <a:t>в</a:t>
            </a:r>
            <a:r>
              <a:rPr dirty="0" sz="2050" spc="-215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2050" spc="-60">
                <a:solidFill>
                  <a:srgbClr val="F4F4F4"/>
                </a:solidFill>
                <a:latin typeface="Arial"/>
                <a:cs typeface="Arial"/>
              </a:rPr>
              <a:t>корпусе</a:t>
            </a:r>
            <a:r>
              <a:rPr dirty="0" sz="2050" spc="-45">
                <a:solidFill>
                  <a:srgbClr val="F4F4F4"/>
                </a:solidFill>
                <a:latin typeface="Arial"/>
                <a:cs typeface="Arial"/>
              </a:rPr>
              <a:t> </a:t>
            </a:r>
            <a:r>
              <a:rPr dirty="0" sz="2050" spc="-70">
                <a:solidFill>
                  <a:srgbClr val="EBEBEB"/>
                </a:solidFill>
                <a:latin typeface="Arial"/>
                <a:cs typeface="Arial"/>
              </a:rPr>
              <a:t>оп</a:t>
            </a:r>
            <a:r>
              <a:rPr dirty="0" sz="2050" spc="-175">
                <a:solidFill>
                  <a:srgbClr val="EBEBEB"/>
                </a:solidFill>
                <a:latin typeface="Arial"/>
                <a:cs typeface="Arial"/>
              </a:rPr>
              <a:t> </a:t>
            </a:r>
            <a:r>
              <a:rPr dirty="0" sz="2050" spc="-100">
                <a:solidFill>
                  <a:srgbClr val="F4F4F4"/>
                </a:solidFill>
                <a:latin typeface="Arial"/>
                <a:cs typeface="Arial"/>
              </a:rPr>
              <a:t>постояНеН</a:t>
            </a:r>
            <a:endParaRPr sz="205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743128" y="3361154"/>
            <a:ext cx="283210" cy="283210"/>
            <a:chOff x="10743128" y="3361154"/>
            <a:chExt cx="283210" cy="28321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743128" y="3361154"/>
              <a:ext cx="282713" cy="282713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743128" y="3361154"/>
              <a:ext cx="282713" cy="282713"/>
            </a:xfrm>
            <a:prstGeom prst="rect">
              <a:avLst/>
            </a:prstGeom>
          </p:spPr>
        </p:pic>
      </p:grpSp>
      <p:sp>
        <p:nvSpPr>
          <p:cNvPr id="15" name="object 15"/>
          <p:cNvSpPr/>
          <p:nvPr/>
        </p:nvSpPr>
        <p:spPr>
          <a:xfrm>
            <a:off x="11182905" y="3376860"/>
            <a:ext cx="6180455" cy="274955"/>
          </a:xfrm>
          <a:custGeom>
            <a:avLst/>
            <a:gdLst/>
            <a:ahLst/>
            <a:cxnLst/>
            <a:rect l="l" t="t" r="r" b="b"/>
            <a:pathLst>
              <a:path w="6180455" h="274954">
                <a:moveTo>
                  <a:pt x="6180440" y="274860"/>
                </a:moveTo>
                <a:lnTo>
                  <a:pt x="0" y="274860"/>
                </a:lnTo>
                <a:lnTo>
                  <a:pt x="0" y="0"/>
                </a:lnTo>
                <a:lnTo>
                  <a:pt x="6180440" y="0"/>
                </a:lnTo>
                <a:lnTo>
                  <a:pt x="6180440" y="274860"/>
                </a:lnTo>
                <a:close/>
              </a:path>
            </a:pathLst>
          </a:custGeom>
          <a:solidFill>
            <a:srgbClr val="181C2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963291" y="3973700"/>
            <a:ext cx="5489575" cy="259715"/>
          </a:xfrm>
          <a:prstGeom prst="rect">
            <a:avLst/>
          </a:prstGeom>
          <a:solidFill>
            <a:srgbClr val="181C24"/>
          </a:solidFill>
        </p:spPr>
        <p:txBody>
          <a:bodyPr wrap="square" lIns="0" tIns="0" rIns="0" bIns="0" rtlCol="0" vert="horz">
            <a:spAutoFit/>
          </a:bodyPr>
          <a:lstStyle/>
          <a:p>
            <a:pPr marL="3810">
              <a:lnSpc>
                <a:spcPts val="1925"/>
              </a:lnSpc>
            </a:pPr>
            <a:r>
              <a:rPr dirty="0" sz="1900">
                <a:solidFill>
                  <a:srgbClr val="EDEDED"/>
                </a:solidFill>
                <a:latin typeface="Arial"/>
                <a:cs typeface="Arial"/>
              </a:rPr>
              <a:t>Поле</a:t>
            </a:r>
            <a:r>
              <a:rPr dirty="0" sz="1900" spc="5">
                <a:solidFill>
                  <a:srgbClr val="EDEDED"/>
                </a:solidFill>
                <a:latin typeface="Arial"/>
                <a:cs typeface="Arial"/>
              </a:rPr>
              <a:t> </a:t>
            </a:r>
            <a:r>
              <a:rPr dirty="0" sz="1900">
                <a:solidFill>
                  <a:srgbClr val="F0F0F0"/>
                </a:solidFill>
                <a:latin typeface="Arial"/>
                <a:cs typeface="Arial"/>
              </a:rPr>
              <a:t>значения</a:t>
            </a:r>
            <a:r>
              <a:rPr dirty="0" sz="1900" spc="20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1900">
                <a:solidFill>
                  <a:srgbClr val="F6F6F6"/>
                </a:solidFill>
                <a:latin typeface="Arial"/>
                <a:cs typeface="Arial"/>
              </a:rPr>
              <a:t>остаётся</a:t>
            </a:r>
            <a:r>
              <a:rPr dirty="0" sz="1900" spc="-45">
                <a:solidFill>
                  <a:srgbClr val="F6F6F6"/>
                </a:solidFill>
                <a:latin typeface="Arial"/>
                <a:cs typeface="Arial"/>
              </a:rPr>
              <a:t> </a:t>
            </a:r>
            <a:r>
              <a:rPr dirty="0" sz="1900">
                <a:solidFill>
                  <a:srgbClr val="FFFFFF"/>
                </a:solidFill>
                <a:latin typeface="Arial"/>
                <a:cs typeface="Arial"/>
              </a:rPr>
              <a:t>гипотезой,</a:t>
            </a:r>
            <a:r>
              <a:rPr dirty="0" sz="19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900">
                <a:solidFill>
                  <a:srgbClr val="EBEBEB"/>
                </a:solidFill>
                <a:latin typeface="Arial"/>
                <a:cs typeface="Arial"/>
              </a:rPr>
              <a:t>а</a:t>
            </a:r>
            <a:r>
              <a:rPr dirty="0" sz="1900" spc="-105">
                <a:solidFill>
                  <a:srgbClr val="EBEBEB"/>
                </a:solidFill>
                <a:latin typeface="Arial"/>
                <a:cs typeface="Arial"/>
              </a:rPr>
              <a:t> </a:t>
            </a:r>
            <a:r>
              <a:rPr dirty="0" sz="1900">
                <a:solidFill>
                  <a:srgbClr val="F0F0F0"/>
                </a:solidFill>
                <a:latin typeface="Arial"/>
                <a:cs typeface="Arial"/>
              </a:rPr>
              <a:t>не</a:t>
            </a:r>
            <a:r>
              <a:rPr dirty="0" sz="1900" spc="-140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1900" spc="-10">
                <a:solidFill>
                  <a:srgbClr val="F4F4F4"/>
                </a:solidFill>
                <a:latin typeface="Arial"/>
                <a:cs typeface="Arial"/>
              </a:rPr>
              <a:t>фактом</a:t>
            </a:r>
            <a:endParaRPr sz="1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0743128" y="3957994"/>
            <a:ext cx="283210" cy="283210"/>
            <a:chOff x="10743128" y="3957994"/>
            <a:chExt cx="283210" cy="283210"/>
          </a:xfrm>
        </p:grpSpPr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743128" y="3957994"/>
              <a:ext cx="282713" cy="28271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743128" y="3957994"/>
              <a:ext cx="282713" cy="282713"/>
            </a:xfrm>
            <a:prstGeom prst="rect">
              <a:avLst/>
            </a:prstGeom>
          </p:spPr>
        </p:pic>
      </p:grpSp>
      <p:sp>
        <p:nvSpPr>
          <p:cNvPr id="16" name="object 16"/>
          <p:cNvSpPr/>
          <p:nvPr/>
        </p:nvSpPr>
        <p:spPr>
          <a:xfrm>
            <a:off x="11198611" y="3989407"/>
            <a:ext cx="7201534" cy="243840"/>
          </a:xfrm>
          <a:custGeom>
            <a:avLst/>
            <a:gdLst/>
            <a:ahLst/>
            <a:cxnLst/>
            <a:rect l="l" t="t" r="r" b="b"/>
            <a:pathLst>
              <a:path w="7201534" h="243839">
                <a:moveTo>
                  <a:pt x="7201351" y="243448"/>
                </a:moveTo>
                <a:lnTo>
                  <a:pt x="0" y="243448"/>
                </a:lnTo>
                <a:lnTo>
                  <a:pt x="0" y="0"/>
                </a:lnTo>
                <a:lnTo>
                  <a:pt x="7201351" y="0"/>
                </a:lnTo>
                <a:lnTo>
                  <a:pt x="7201351" y="243448"/>
                </a:lnTo>
                <a:close/>
              </a:path>
            </a:pathLst>
          </a:custGeom>
          <a:solidFill>
            <a:srgbClr val="181C24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11186297" y="3298717"/>
            <a:ext cx="7214234" cy="9366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95">
                <a:solidFill>
                  <a:srgbClr val="FFFFFF"/>
                </a:solidFill>
                <a:latin typeface="Arial"/>
                <a:cs typeface="Arial"/>
              </a:rPr>
              <a:t>АпьтерНативпые</a:t>
            </a:r>
            <a:r>
              <a:rPr dirty="0" sz="2050" spc="-1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75">
                <a:solidFill>
                  <a:srgbClr val="FFFFFF"/>
                </a:solidFill>
                <a:latin typeface="Arial"/>
                <a:cs typeface="Arial"/>
              </a:rPr>
              <a:t>чтения</a:t>
            </a:r>
            <a:r>
              <a:rPr dirty="0" sz="205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85">
                <a:solidFill>
                  <a:srgbClr val="FFFFFF"/>
                </a:solidFill>
                <a:latin typeface="Arial"/>
                <a:cs typeface="Arial"/>
              </a:rPr>
              <a:t>берутся</a:t>
            </a:r>
            <a:r>
              <a:rPr dirty="0" sz="205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50">
                <a:solidFill>
                  <a:srgbClr val="FFFFFF"/>
                </a:solidFill>
                <a:latin typeface="Arial"/>
                <a:cs typeface="Arial"/>
              </a:rPr>
              <a:t>из</a:t>
            </a:r>
            <a:r>
              <a:rPr dirty="0" sz="2050" spc="-1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65">
                <a:solidFill>
                  <a:srgbClr val="FFFFFF"/>
                </a:solidFill>
                <a:latin typeface="Arial"/>
                <a:cs typeface="Arial"/>
              </a:rPr>
              <a:t>задаппого</a:t>
            </a:r>
            <a:r>
              <a:rPr dirty="0" sz="2050" spc="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10">
                <a:solidFill>
                  <a:srgbClr val="F2F2F2"/>
                </a:solidFill>
                <a:latin typeface="Arial"/>
                <a:cs typeface="Arial"/>
              </a:rPr>
              <a:t>пабора</a:t>
            </a:r>
            <a:endParaRPr sz="2050">
              <a:latin typeface="Arial"/>
              <a:cs typeface="Arial"/>
            </a:endParaRPr>
          </a:p>
          <a:p>
            <a:pPr marL="14604">
              <a:lnSpc>
                <a:spcPct val="100000"/>
              </a:lnSpc>
              <a:spcBef>
                <a:spcPts val="2240"/>
              </a:spcBef>
            </a:pPr>
            <a:r>
              <a:rPr dirty="0" sz="2050" spc="-100">
                <a:solidFill>
                  <a:srgbClr val="FFFFFF"/>
                </a:solidFill>
                <a:latin typeface="Arial"/>
                <a:cs typeface="Arial"/>
              </a:rPr>
              <a:t>ННтерпретацпя</a:t>
            </a:r>
            <a:r>
              <a:rPr dirty="0" sz="2050" spc="7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155">
                <a:solidFill>
                  <a:srgbClr val="F0F0F0"/>
                </a:solidFill>
                <a:latin typeface="Arial"/>
                <a:cs typeface="Arial"/>
              </a:rPr>
              <a:t>верНа</a:t>
            </a:r>
            <a:r>
              <a:rPr dirty="0" sz="2050" spc="-45">
                <a:solidFill>
                  <a:srgbClr val="F0F0F0"/>
                </a:solidFill>
                <a:latin typeface="Arial"/>
                <a:cs typeface="Arial"/>
              </a:rPr>
              <a:t> </a:t>
            </a:r>
            <a:r>
              <a:rPr dirty="0" sz="2050" spc="-95">
                <a:solidFill>
                  <a:srgbClr val="F2F2F2"/>
                </a:solidFill>
                <a:latin typeface="Arial"/>
                <a:cs typeface="Arial"/>
              </a:rPr>
              <a:t>для</a:t>
            </a:r>
            <a:r>
              <a:rPr dirty="0" sz="2050" spc="-85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050" spc="-100">
                <a:solidFill>
                  <a:srgbClr val="FFFFFF"/>
                </a:solidFill>
                <a:latin typeface="Arial"/>
                <a:cs typeface="Arial"/>
              </a:rPr>
              <a:t>проверепНых</a:t>
            </a:r>
            <a:r>
              <a:rPr dirty="0" sz="2050" spc="10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85">
                <a:solidFill>
                  <a:srgbClr val="F4F4F4"/>
                </a:solidFill>
                <a:latin typeface="Arial"/>
                <a:cs typeface="Arial"/>
              </a:rPr>
              <a:t>захватов</a:t>
            </a:r>
            <a:r>
              <a:rPr dirty="0" sz="2050" spc="-70">
                <a:solidFill>
                  <a:srgbClr val="F4F4F4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F2F2F2"/>
                </a:solidFill>
                <a:latin typeface="Arial"/>
                <a:cs typeface="Arial"/>
              </a:rPr>
              <a:t>п</a:t>
            </a:r>
            <a:r>
              <a:rPr dirty="0" sz="2050" spc="-220">
                <a:solidFill>
                  <a:srgbClr val="F2F2F2"/>
                </a:solidFill>
                <a:latin typeface="Arial"/>
                <a:cs typeface="Arial"/>
              </a:rPr>
              <a:t> </a:t>
            </a:r>
            <a:r>
              <a:rPr dirty="0" sz="2050" spc="-90">
                <a:solidFill>
                  <a:srgbClr val="FFFFFF"/>
                </a:solidFill>
                <a:latin typeface="Arial"/>
                <a:cs typeface="Arial"/>
              </a:rPr>
              <a:t>молчит</a:t>
            </a:r>
            <a:r>
              <a:rPr dirty="0" sz="205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050" spc="-45">
                <a:solidFill>
                  <a:srgbClr val="EDEDED"/>
                </a:solidFill>
                <a:latin typeface="Arial"/>
                <a:cs typeface="Arial"/>
              </a:rPr>
              <a:t>вНе</a:t>
            </a:r>
            <a:endParaRPr sz="205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1198611" y="4366359"/>
            <a:ext cx="408940" cy="173355"/>
            <a:chOff x="11198611" y="4366359"/>
            <a:chExt cx="408940" cy="173355"/>
          </a:xfrm>
        </p:grpSpPr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198611" y="4366359"/>
              <a:ext cx="408364" cy="172769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198611" y="4366359"/>
              <a:ext cx="408364" cy="17276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5706" y="4036526"/>
            <a:ext cx="20080605" cy="668020"/>
          </a:xfrm>
          <a:custGeom>
            <a:avLst/>
            <a:gdLst/>
            <a:ahLst/>
            <a:cxnLst/>
            <a:rect l="l" t="t" r="r" b="b"/>
            <a:pathLst>
              <a:path w="20080605" h="668020">
                <a:moveTo>
                  <a:pt x="20080541" y="667518"/>
                </a:moveTo>
                <a:lnTo>
                  <a:pt x="0" y="667518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667518"/>
                </a:lnTo>
                <a:close/>
              </a:path>
            </a:pathLst>
          </a:custGeom>
          <a:solidFill>
            <a:srgbClr val="0C0C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439713" y="3830769"/>
            <a:ext cx="11196955" cy="869950"/>
          </a:xfrm>
          <a:prstGeom prst="rect"/>
        </p:spPr>
        <p:txBody>
          <a:bodyPr wrap="square" lIns="0" tIns="177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dirty="0" sz="5500" spc="90"/>
              <a:t>Инструмент</a:t>
            </a:r>
            <a:r>
              <a:rPr dirty="0" sz="5500" spc="30"/>
              <a:t> </a:t>
            </a:r>
            <a:r>
              <a:rPr dirty="0" sz="5500" spc="60"/>
              <a:t>превращает</a:t>
            </a:r>
            <a:r>
              <a:rPr dirty="0" sz="5500" spc="-100"/>
              <a:t> </a:t>
            </a:r>
            <a:r>
              <a:rPr dirty="0" sz="5500" spc="185"/>
              <a:t>байты</a:t>
            </a:r>
            <a:r>
              <a:rPr dirty="0" sz="5500" spc="-195"/>
              <a:t> </a:t>
            </a:r>
            <a:r>
              <a:rPr dirty="0" sz="5500" spc="125"/>
              <a:t>в</a:t>
            </a:r>
            <a:endParaRPr sz="5500"/>
          </a:p>
        </p:txBody>
      </p:sp>
      <p:sp>
        <p:nvSpPr>
          <p:cNvPr id="4" name="object 4"/>
          <p:cNvSpPr/>
          <p:nvPr/>
        </p:nvSpPr>
        <p:spPr>
          <a:xfrm>
            <a:off x="15706" y="4994612"/>
            <a:ext cx="20080605" cy="542290"/>
          </a:xfrm>
          <a:custGeom>
            <a:avLst/>
            <a:gdLst/>
            <a:ahLst/>
            <a:cxnLst/>
            <a:rect l="l" t="t" r="r" b="b"/>
            <a:pathLst>
              <a:path w="20080605" h="542289">
                <a:moveTo>
                  <a:pt x="20080541" y="541868"/>
                </a:moveTo>
                <a:lnTo>
                  <a:pt x="0" y="541868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541868"/>
                </a:lnTo>
                <a:close/>
              </a:path>
            </a:pathLst>
          </a:custGeom>
          <a:solidFill>
            <a:srgbClr val="0C0C0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506914" y="4687418"/>
            <a:ext cx="7044055" cy="85026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5400" spc="145">
                <a:solidFill>
                  <a:srgbClr val="FFFFFF"/>
                </a:solidFill>
                <a:latin typeface="Arial"/>
                <a:cs typeface="Arial"/>
              </a:rPr>
              <a:t>проверяемое</a:t>
            </a:r>
            <a:r>
              <a:rPr dirty="0" sz="5400" spc="2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5400" spc="130">
                <a:solidFill>
                  <a:srgbClr val="FFFFFF"/>
                </a:solidFill>
                <a:latin typeface="Arial"/>
                <a:cs typeface="Arial"/>
              </a:rPr>
              <a:t>знание</a:t>
            </a:r>
            <a:endParaRPr sz="54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5706" y="6219706"/>
            <a:ext cx="20080605" cy="432434"/>
          </a:xfrm>
          <a:custGeom>
            <a:avLst/>
            <a:gdLst/>
            <a:ahLst/>
            <a:cxnLst/>
            <a:rect l="l" t="t" r="r" b="b"/>
            <a:pathLst>
              <a:path w="20080605" h="432434">
                <a:moveTo>
                  <a:pt x="20080541" y="431924"/>
                </a:moveTo>
                <a:lnTo>
                  <a:pt x="0" y="431924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431924"/>
                </a:lnTo>
                <a:close/>
              </a:path>
            </a:pathLst>
          </a:custGeom>
          <a:solidFill>
            <a:srgbClr val="0F0C0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753462" y="6218131"/>
            <a:ext cx="7232650" cy="39878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2450" spc="-145">
                <a:solidFill>
                  <a:srgbClr val="FFFFFF"/>
                </a:solidFill>
                <a:latin typeface="Courier New"/>
                <a:cs typeface="Courier New"/>
              </a:rPr>
              <a:t>github.com/Pavel1778/madrigal-protocol-</a:t>
            </a:r>
            <a:r>
              <a:rPr dirty="0" sz="2450" spc="-25">
                <a:solidFill>
                  <a:srgbClr val="FFFFFF"/>
                </a:solidFill>
                <a:latin typeface="Courier New"/>
                <a:cs typeface="Courier New"/>
              </a:rPr>
              <a:t>lab</a:t>
            </a:r>
            <a:endParaRPr sz="2450">
              <a:latin typeface="Courier New"/>
              <a:cs typeface="Courier New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5706" y="7680394"/>
            <a:ext cx="20080605" cy="243840"/>
          </a:xfrm>
          <a:custGeom>
            <a:avLst/>
            <a:gdLst/>
            <a:ahLst/>
            <a:cxnLst/>
            <a:rect l="l" t="t" r="r" b="b"/>
            <a:pathLst>
              <a:path w="20080605" h="243840">
                <a:moveTo>
                  <a:pt x="20080541" y="243448"/>
                </a:moveTo>
                <a:lnTo>
                  <a:pt x="0" y="243448"/>
                </a:lnTo>
                <a:lnTo>
                  <a:pt x="0" y="0"/>
                </a:lnTo>
                <a:lnTo>
                  <a:pt x="20080541" y="0"/>
                </a:lnTo>
                <a:lnTo>
                  <a:pt x="20080541" y="243448"/>
                </a:lnTo>
                <a:close/>
              </a:path>
            </a:pathLst>
          </a:custGeom>
          <a:solidFill>
            <a:srgbClr val="0F0C0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981930" y="7602251"/>
            <a:ext cx="196659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590">
                <a:solidFill>
                  <a:srgbClr val="ACACAC"/>
                </a:solidFill>
                <a:latin typeface="Arial"/>
                <a:cs typeface="Arial"/>
              </a:rPr>
              <a:t>С</a:t>
            </a:r>
            <a:r>
              <a:rPr dirty="0" sz="2050" spc="-195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2050" spc="-235">
                <a:solidFill>
                  <a:srgbClr val="ACACAC"/>
                </a:solidFill>
                <a:latin typeface="Arial"/>
                <a:cs typeface="Arial"/>
              </a:rPr>
              <a:t>а</a:t>
            </a:r>
            <a:r>
              <a:rPr dirty="0" sz="2050" spc="-250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2050" spc="-225">
                <a:solidFill>
                  <a:srgbClr val="808791"/>
                </a:solidFill>
                <a:latin typeface="Arial"/>
                <a:cs typeface="Arial"/>
              </a:rPr>
              <a:t>6</a:t>
            </a:r>
            <a:r>
              <a:rPr dirty="0" sz="2050" spc="-254">
                <a:solidFill>
                  <a:srgbClr val="808791"/>
                </a:solidFill>
                <a:latin typeface="Arial"/>
                <a:cs typeface="Arial"/>
              </a:rPr>
              <a:t> </a:t>
            </a:r>
            <a:r>
              <a:rPr dirty="0" sz="2050" spc="-55">
                <a:solidFill>
                  <a:srgbClr val="ACACAC"/>
                </a:solidFill>
                <a:latin typeface="Arial"/>
                <a:cs typeface="Arial"/>
              </a:rPr>
              <a:t>ада</a:t>
            </a:r>
            <a:r>
              <a:rPr dirty="0" sz="2050" spc="-330">
                <a:solidFill>
                  <a:srgbClr val="ACACAC"/>
                </a:solidFill>
                <a:latin typeface="Arial"/>
                <a:cs typeface="Arial"/>
              </a:rPr>
              <a:t> </a:t>
            </a:r>
            <a:r>
              <a:rPr dirty="0" sz="2050" spc="55">
                <a:solidFill>
                  <a:srgbClr val="A8A8A8"/>
                </a:solidFill>
                <a:latin typeface="Arial"/>
                <a:cs typeface="Arial"/>
              </a:rPr>
              <a:t>u</a:t>
            </a:r>
            <a:r>
              <a:rPr dirty="0" sz="2050" spc="90">
                <a:solidFill>
                  <a:srgbClr val="A8A8A8"/>
                </a:solidFill>
                <a:latin typeface="Arial"/>
                <a:cs typeface="Arial"/>
              </a:rPr>
              <a:t>  </a:t>
            </a:r>
            <a:r>
              <a:rPr dirty="0" sz="2050" spc="-210">
                <a:solidFill>
                  <a:srgbClr val="A3A3A3"/>
                </a:solidFill>
                <a:latin typeface="Arial"/>
                <a:cs typeface="Arial"/>
              </a:rPr>
              <a:t>Г</a:t>
            </a:r>
            <a:r>
              <a:rPr dirty="0" sz="2050" spc="-155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dirty="0" sz="2050" spc="-235">
                <a:solidFill>
                  <a:srgbClr val="AAAAAA"/>
                </a:solidFill>
                <a:latin typeface="Arial"/>
                <a:cs typeface="Arial"/>
              </a:rPr>
              <a:t>а</a:t>
            </a:r>
            <a:r>
              <a:rPr dirty="0" sz="2050" spc="-315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2050" spc="-114">
                <a:solidFill>
                  <a:srgbClr val="858E9C"/>
                </a:solidFill>
                <a:latin typeface="Arial"/>
                <a:cs typeface="Arial"/>
              </a:rPr>
              <a:t>в</a:t>
            </a:r>
            <a:r>
              <a:rPr dirty="0" sz="2050" spc="-254">
                <a:solidFill>
                  <a:srgbClr val="858E9C"/>
                </a:solidFill>
                <a:latin typeface="Arial"/>
                <a:cs typeface="Arial"/>
              </a:rPr>
              <a:t> </a:t>
            </a:r>
            <a:r>
              <a:rPr dirty="0" sz="2050" spc="-45">
                <a:solidFill>
                  <a:srgbClr val="B1B1B1"/>
                </a:solidFill>
                <a:latin typeface="Arial"/>
                <a:cs typeface="Arial"/>
              </a:rPr>
              <a:t>er</a:t>
            </a:r>
            <a:endParaRPr sz="20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497817" y="7602251"/>
            <a:ext cx="109664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210">
                <a:solidFill>
                  <a:srgbClr val="959595"/>
                </a:solidFill>
                <a:latin typeface="Arial"/>
                <a:cs typeface="Arial"/>
              </a:rPr>
              <a:t>Г</a:t>
            </a:r>
            <a:r>
              <a:rPr dirty="0" sz="2050" spc="-215">
                <a:solidFill>
                  <a:srgbClr val="959595"/>
                </a:solidFill>
                <a:latin typeface="Arial"/>
                <a:cs typeface="Arial"/>
              </a:rPr>
              <a:t> </a:t>
            </a:r>
            <a:r>
              <a:rPr dirty="0" sz="2050" spc="-180">
                <a:solidFill>
                  <a:srgbClr val="95A7B1"/>
                </a:solidFill>
                <a:latin typeface="Arial"/>
                <a:cs typeface="Arial"/>
              </a:rPr>
              <a:t>р</a:t>
            </a:r>
            <a:r>
              <a:rPr dirty="0" sz="2050" spc="-235">
                <a:solidFill>
                  <a:srgbClr val="95A7B1"/>
                </a:solidFill>
                <a:latin typeface="Arial"/>
                <a:cs typeface="Arial"/>
              </a:rPr>
              <a:t> </a:t>
            </a:r>
            <a:r>
              <a:rPr dirty="0" sz="2050" spc="-35">
                <a:solidFill>
                  <a:srgbClr val="AAAAAA"/>
                </a:solidFill>
                <a:latin typeface="Arial"/>
                <a:cs typeface="Arial"/>
              </a:rPr>
              <a:t>еда</a:t>
            </a:r>
            <a:r>
              <a:rPr dirty="0" sz="2050" spc="-27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dirty="0" sz="2050" spc="-254">
                <a:solidFill>
                  <a:srgbClr val="A8A8A8"/>
                </a:solidFill>
                <a:latin typeface="Arial"/>
                <a:cs typeface="Arial"/>
              </a:rPr>
              <a:t>о</a:t>
            </a:r>
            <a:r>
              <a:rPr dirty="0" sz="2050" spc="-290">
                <a:solidFill>
                  <a:srgbClr val="A8A8A8"/>
                </a:solidFill>
                <a:latin typeface="Arial"/>
                <a:cs typeface="Arial"/>
              </a:rPr>
              <a:t> </a:t>
            </a:r>
            <a:r>
              <a:rPr dirty="0" sz="2050" spc="-50">
                <a:solidFill>
                  <a:srgbClr val="97A1AF"/>
                </a:solidFill>
                <a:latin typeface="Arial"/>
                <a:cs typeface="Arial"/>
              </a:rPr>
              <a:t>в</a:t>
            </a:r>
            <a:endParaRPr sz="20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753939" y="7602251"/>
            <a:ext cx="939165" cy="33972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050" spc="-204">
                <a:solidFill>
                  <a:srgbClr val="B3B3B3"/>
                </a:solidFill>
                <a:latin typeface="Arial"/>
                <a:cs typeface="Arial"/>
              </a:rPr>
              <a:t>Ни</a:t>
            </a:r>
            <a:r>
              <a:rPr dirty="0" sz="2050" spc="-170">
                <a:solidFill>
                  <a:srgbClr val="B3B3B3"/>
                </a:solidFill>
                <a:latin typeface="Arial"/>
                <a:cs typeface="Arial"/>
              </a:rPr>
              <a:t> </a:t>
            </a:r>
            <a:r>
              <a:rPr dirty="0" sz="2050" spc="-160">
                <a:solidFill>
                  <a:srgbClr val="A3A3A3"/>
                </a:solidFill>
                <a:latin typeface="Arial"/>
                <a:cs typeface="Arial"/>
              </a:rPr>
              <a:t>х</a:t>
            </a:r>
            <a:r>
              <a:rPr dirty="0" sz="2050" spc="-315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dirty="0" sz="2050" spc="-135">
                <a:solidFill>
                  <a:srgbClr val="B1B1B1"/>
                </a:solidFill>
                <a:latin typeface="Arial"/>
                <a:cs typeface="Arial"/>
              </a:rPr>
              <a:t>и</a:t>
            </a:r>
            <a:r>
              <a:rPr dirty="0" sz="2050" spc="-305">
                <a:solidFill>
                  <a:srgbClr val="B1B1B1"/>
                </a:solidFill>
                <a:latin typeface="Arial"/>
                <a:cs typeface="Arial"/>
              </a:rPr>
              <a:t> </a:t>
            </a:r>
            <a:r>
              <a:rPr dirty="0" sz="2050">
                <a:solidFill>
                  <a:srgbClr val="A5A5A5"/>
                </a:solidFill>
                <a:latin typeface="Arial"/>
                <a:cs typeface="Arial"/>
              </a:rPr>
              <a:t>т</a:t>
            </a:r>
            <a:r>
              <a:rPr dirty="0" sz="2050" spc="-285">
                <a:solidFill>
                  <a:srgbClr val="A5A5A5"/>
                </a:solidFill>
                <a:latin typeface="Arial"/>
                <a:cs typeface="Arial"/>
              </a:rPr>
              <a:t> </a:t>
            </a:r>
            <a:r>
              <a:rPr dirty="0" sz="2050" spc="-160">
                <a:solidFill>
                  <a:srgbClr val="AAAAAA"/>
                </a:solidFill>
                <a:latin typeface="Arial"/>
                <a:cs typeface="Arial"/>
              </a:rPr>
              <a:t>а</a:t>
            </a:r>
            <a:endParaRPr sz="20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2026-10-13T19:55:23Z</dcterms:created>
  <dcterms:modified xsi:type="dcterms:W3CDTF">2026-10-13T19:55:23Z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2026-10-13T00:00:00Z</vt:filetime>
  </property>
  <property fmtid="{D5CDD505-2E9C-101B-9397-08002B2CF9AE}" pid="4" name="LastSaved">
    <vt:filetime>2026-10-13T00:00:00Z</vt:filetime>
  </property>
  <property fmtid="{D5CDD505-2E9C-101B-9397-08002B2CF9AE}" pid="5" name="Producer">
    <vt:lpwstr>3-Heights(TM) PDF Security Shell 4.8.25.2 (http://www.pdf-tools.com)</vt:lpwstr>
  </property>
</Properties>
</file>